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24"/>
  </p:notesMasterIdLst>
  <p:handoutMasterIdLst>
    <p:handoutMasterId r:id="rId25"/>
  </p:handoutMasterIdLst>
  <p:sldIdLst>
    <p:sldId id="258" r:id="rId7"/>
    <p:sldId id="292" r:id="rId8"/>
    <p:sldId id="365" r:id="rId9"/>
    <p:sldId id="256" r:id="rId10"/>
    <p:sldId id="257" r:id="rId11"/>
    <p:sldId id="366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70" r:id="rId22"/>
    <p:sldId id="363" r:id="rId23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3" autoAdjust="0"/>
    <p:restoredTop sz="92007" autoAdjust="0"/>
  </p:normalViewPr>
  <p:slideViewPr>
    <p:cSldViewPr snapToGrid="0" snapToObjects="1">
      <p:cViewPr varScale="1">
        <p:scale>
          <a:sx n="92" d="100"/>
          <a:sy n="92" d="100"/>
        </p:scale>
        <p:origin x="768" y="90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03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  <p:sldLayoutId id="2147483729" r:id="rId15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20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WK32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07</a:t>
            </a:r>
            <a:r>
              <a:rPr lang="en-US" altLang="zh-TW" baseline="30000" dirty="0"/>
              <a:t>th</a:t>
            </a:r>
            <a:r>
              <a:rPr lang="en-US" altLang="zh-TW" dirty="0"/>
              <a:t> August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504771"/>
              </p:ext>
            </p:extLst>
          </p:nvPr>
        </p:nvGraphicFramePr>
        <p:xfrm>
          <a:off x="727671" y="1372926"/>
          <a:ext cx="13347362" cy="6129772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38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 </a:t>
                      </a:r>
                      <a:r>
                        <a:rPr lang="en-US" altLang="zh-TW" sz="11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掃描、判斷與擋線、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GUI</a:t>
                      </a: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告警 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1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對齊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NR1</a:t>
                      </a: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專案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(v3.5.1 </a:t>
                      </a:r>
                      <a:r>
                        <a:rPr lang="en-US" altLang="zh-TW" sz="11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帶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S,[VR]</a:t>
                      </a: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值依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</a:t>
                      </a: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填入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) (Done)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驗證七專案「輸入→轉出」對照檔產出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. (Done)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Mars 優化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-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設定檔自檢，開機顯示生效值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-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設定值防呆，填錯不再擋開機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-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舊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log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自動清理，天數可設定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-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執行緒狀態集中管理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-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移除 無效重複檔案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 - Log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視窗自動顯示最新訊息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 - Log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長訊息自動換行</a:t>
                      </a:r>
                      <a:endParaRPr lang="en-US" altLang="zh-TW" sz="11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新專案接入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Mars —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開發者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TODO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1.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確認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ATE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資料格式</a:t>
                      </a:r>
                      <a:endParaRPr lang="en-US" altLang="zh-TW" sz="11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2. 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/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選擇 </a:t>
                      </a:r>
                      <a:r>
                        <a:rPr lang="en-US" altLang="zh-TW" sz="11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protocol.json</a:t>
                      </a:r>
                      <a:endParaRPr lang="en-US" altLang="zh-TW" sz="11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3.</a:t>
                      </a:r>
                      <a:r>
                        <a:rPr lang="zh-TW" altLang="en-US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新增 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Modules/</a:t>
                      </a:r>
                      <a:r>
                        <a:rPr lang="en-US" altLang="zh-TW" sz="11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SfisMessage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/Projects/&lt;</a:t>
                      </a:r>
                      <a:r>
                        <a:rPr lang="en-US" altLang="zh-TW" sz="11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Project_stataion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&gt;.cs</a:t>
                      </a:r>
                      <a:endParaRPr lang="zh-TW" altLang="en-US" sz="11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449168"/>
              </p:ext>
            </p:extLst>
          </p:nvPr>
        </p:nvGraphicFramePr>
        <p:xfrm>
          <a:off x="727671" y="1372926"/>
          <a:ext cx="13347362" cy="2258058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Pending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sng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project module and config.(Ongoing)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Trail run all projects.(2035NR…2308T1_OQC)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 - ATE to Mars, Mars to SFIS, SFIS to Mars.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6"/>
            <a:ext cx="14255393" cy="8018859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0" y="596"/>
            <a:ext cx="235220" cy="801885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Rectangle 3"/>
          <p:cNvSpPr/>
          <p:nvPr/>
        </p:nvSpPr>
        <p:spPr>
          <a:xfrm>
            <a:off x="11333321" y="595"/>
            <a:ext cx="2918865" cy="481132"/>
          </a:xfrm>
          <a:prstGeom prst="rect">
            <a:avLst/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5" name="Rectangle 4"/>
          <p:cNvSpPr/>
          <p:nvPr/>
        </p:nvSpPr>
        <p:spPr>
          <a:xfrm>
            <a:off x="12509421" y="481727"/>
            <a:ext cx="1742765" cy="320754"/>
          </a:xfrm>
          <a:prstGeom prst="rect">
            <a:avLst/>
          </a:prstGeom>
          <a:solidFill>
            <a:srgbClr val="1B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TextBox 6"/>
          <p:cNvSpPr txBox="1"/>
          <p:nvPr/>
        </p:nvSpPr>
        <p:spPr>
          <a:xfrm>
            <a:off x="1176099" y="2566631"/>
            <a:ext cx="12081748" cy="827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5379" b="1">
                <a:solidFill>
                  <a:srgbClr val="FFFFFF"/>
                </a:solidFill>
                <a:latin typeface="Microsoft JhengHei"/>
              </a:rPr>
              <a:t>把 AI 放進開發環境裡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099" y="3849648"/>
            <a:ext cx="12081748" cy="413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89">
                <a:solidFill>
                  <a:srgbClr val="BFD4EC"/>
                </a:solidFill>
                <a:latin typeface="Microsoft JhengHei"/>
              </a:rPr>
              <a:t>VS Code 內的 Coding Agent — 我實際怎麼用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6099" y="4865370"/>
            <a:ext cx="2352199" cy="5197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0" name="TextBox 9"/>
          <p:cNvSpPr txBox="1"/>
          <p:nvPr/>
        </p:nvSpPr>
        <p:spPr>
          <a:xfrm>
            <a:off x="1176099" y="5239583"/>
            <a:ext cx="11760994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dirty="0" err="1">
                <a:solidFill>
                  <a:srgbClr val="9FBAD6"/>
                </a:solidFill>
                <a:latin typeface="Microsoft JhengHei"/>
              </a:rPr>
              <a:t>本簡報所有畫面與對話，皆取自</a:t>
            </a:r>
            <a:r>
              <a:rPr sz="1637" dirty="0">
                <a:solidFill>
                  <a:srgbClr val="9FBAD6"/>
                </a:solidFill>
                <a:latin typeface="Microsoft JhengHei"/>
              </a:rPr>
              <a:t> Octavia / Mars </a:t>
            </a:r>
            <a:r>
              <a:rPr sz="1637" dirty="0" err="1">
                <a:solidFill>
                  <a:srgbClr val="9FBAD6"/>
                </a:solidFill>
                <a:latin typeface="Microsoft JhengHei"/>
              </a:rPr>
              <a:t>專案的工作紀錄</a:t>
            </a:r>
            <a:endParaRPr sz="1637" dirty="0">
              <a:solidFill>
                <a:srgbClr val="9FBAD6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6099" y="6896815"/>
            <a:ext cx="6415088" cy="449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TW" sz="1403" dirty="0">
                <a:solidFill>
                  <a:srgbClr val="7CA8DC"/>
                </a:solidFill>
                <a:latin typeface="Microsoft JhengHei"/>
              </a:rPr>
              <a:t>USI  AMMS / MWC / TD&amp;SW</a:t>
            </a:r>
            <a:br>
              <a:rPr lang="en-US" sz="1520" dirty="0">
                <a:solidFill>
                  <a:srgbClr val="E8EFF6"/>
                </a:solidFill>
                <a:latin typeface="Microsoft JhengHei"/>
              </a:rPr>
            </a:br>
            <a:r>
              <a:rPr sz="1520" dirty="0">
                <a:solidFill>
                  <a:srgbClr val="E8EFF6"/>
                </a:solidFill>
                <a:latin typeface="Microsoft JhengHei"/>
              </a:rPr>
              <a:t>HungFu Lin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6"/>
            <a:ext cx="14255393" cy="801885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1069181" y="909399"/>
            <a:ext cx="12081748" cy="26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en-US" sz="1754" b="1" dirty="0">
                <a:solidFill>
                  <a:srgbClr val="1E6FD9"/>
                </a:solidFill>
                <a:latin typeface="Microsoft JhengHei"/>
              </a:rPr>
              <a:t>關於</a:t>
            </a:r>
            <a:r>
              <a:rPr lang="en-US" altLang="zh-TW" sz="1754" b="1" dirty="0">
                <a:solidFill>
                  <a:srgbClr val="1E6FD9"/>
                </a:solidFill>
                <a:latin typeface="Microsoft JhengHei"/>
              </a:rPr>
              <a:t>Coding Agent</a:t>
            </a:r>
            <a:endParaRPr sz="1754" b="1" dirty="0">
              <a:solidFill>
                <a:srgbClr val="1E6FD9"/>
              </a:solidFill>
              <a:latin typeface="Microsoft Jheng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9181" y="1411915"/>
            <a:ext cx="1710690" cy="5197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5" name="TextBox 4"/>
          <p:cNvSpPr txBox="1"/>
          <p:nvPr/>
        </p:nvSpPr>
        <p:spPr>
          <a:xfrm>
            <a:off x="1069181" y="1871663"/>
            <a:ext cx="12188666" cy="1470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3742" b="1">
                <a:solidFill>
                  <a:srgbClr val="1B2A38"/>
                </a:solidFill>
                <a:latin typeface="Microsoft JhengHei"/>
              </a:rPr>
              <a:t>差別不在於「AI 會不會寫程式」，</a:t>
            </a:r>
          </a:p>
          <a:p>
            <a:pPr>
              <a:lnSpc>
                <a:spcPct val="135000"/>
              </a:lnSpc>
            </a:pPr>
            <a:r>
              <a:rPr sz="3742" b="1">
                <a:solidFill>
                  <a:srgbClr val="1E6FD9"/>
                </a:solidFill>
                <a:latin typeface="Microsoft JhengHei"/>
              </a:rPr>
              <a:t>而在於 AI 看不看得見我的專案。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9181" y="4223861"/>
            <a:ext cx="5773579" cy="2726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1069181" y="4223861"/>
            <a:ext cx="5773579" cy="59399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1443395" y="4544616"/>
            <a:ext cx="5132070" cy="2071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88" b="1">
                <a:solidFill>
                  <a:srgbClr val="E87A2B"/>
                </a:solidFill>
                <a:latin typeface="Microsoft JhengHei"/>
              </a:rPr>
              <a:t>我以前用網頁版時</a:t>
            </a:r>
          </a:p>
          <a:p>
            <a:pPr>
              <a:lnSpc>
                <a:spcPct val="130000"/>
              </a:lnSpc>
            </a:pPr>
            <a:endParaRPr sz="1988" b="1">
              <a:solidFill>
                <a:srgbClr val="E87A2B"/>
              </a:solidFill>
              <a:latin typeface="Microsoft JhengHei"/>
            </a:endParaRPr>
          </a:p>
          <a:p>
            <a:pPr>
              <a:lnSpc>
                <a:spcPct val="130000"/>
              </a:lnSpc>
            </a:pPr>
            <a:r>
              <a:rPr sz="1637">
                <a:solidFill>
                  <a:srgbClr val="1B2A38"/>
                </a:solidFill>
                <a:latin typeface="Microsoft JhengHei"/>
              </a:rPr>
              <a:t>每次都要先花好幾分鐘</a:t>
            </a:r>
          </a:p>
          <a:p>
            <a:pPr>
              <a:lnSpc>
                <a:spcPct val="130000"/>
              </a:lnSpc>
            </a:pPr>
            <a:r>
              <a:rPr sz="1637">
                <a:solidFill>
                  <a:srgbClr val="1B2A38"/>
                </a:solidFill>
                <a:latin typeface="Microsoft JhengHei"/>
              </a:rPr>
              <a:t>解釋「我的專案長怎樣」，</a:t>
            </a:r>
          </a:p>
          <a:p>
            <a:pPr>
              <a:lnSpc>
                <a:spcPct val="130000"/>
              </a:lnSpc>
            </a:pPr>
            <a:r>
              <a:rPr sz="1637">
                <a:solidFill>
                  <a:srgbClr val="1B2A38"/>
                </a:solidFill>
                <a:latin typeface="Microsoft JhengHei"/>
              </a:rPr>
              <a:t>貼完程式碼它給我建議，</a:t>
            </a:r>
          </a:p>
          <a:p>
            <a:pPr>
              <a:lnSpc>
                <a:spcPct val="130000"/>
              </a:lnSpc>
            </a:pPr>
            <a:r>
              <a:rPr sz="1637" b="1">
                <a:solidFill>
                  <a:srgbClr val="E87A2B"/>
                </a:solidFill>
                <a:latin typeface="Microsoft JhengHei"/>
              </a:rPr>
              <a:t>我再自己貼回去、自己編譯測試。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30810" y="4223861"/>
            <a:ext cx="5773579" cy="2726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0" name="Rectangle 9"/>
          <p:cNvSpPr/>
          <p:nvPr/>
        </p:nvSpPr>
        <p:spPr>
          <a:xfrm>
            <a:off x="7430810" y="4223861"/>
            <a:ext cx="5773579" cy="5939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TextBox 10"/>
          <p:cNvSpPr txBox="1"/>
          <p:nvPr/>
        </p:nvSpPr>
        <p:spPr>
          <a:xfrm>
            <a:off x="7805023" y="4544616"/>
            <a:ext cx="5132070" cy="2071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88" b="1">
                <a:solidFill>
                  <a:srgbClr val="0E9C8A"/>
                </a:solidFill>
                <a:latin typeface="Microsoft JhengHei"/>
              </a:rPr>
              <a:t>現在在 VS Code 裡</a:t>
            </a:r>
          </a:p>
          <a:p>
            <a:pPr>
              <a:lnSpc>
                <a:spcPct val="130000"/>
              </a:lnSpc>
            </a:pPr>
            <a:endParaRPr sz="1988" b="1">
              <a:solidFill>
                <a:srgbClr val="0E9C8A"/>
              </a:solidFill>
              <a:latin typeface="Microsoft JhengHei"/>
            </a:endParaRPr>
          </a:p>
          <a:p>
            <a:pPr>
              <a:lnSpc>
                <a:spcPct val="130000"/>
              </a:lnSpc>
            </a:pPr>
            <a:r>
              <a:rPr sz="1637">
                <a:solidFill>
                  <a:srgbClr val="1B2A38"/>
                </a:solidFill>
                <a:latin typeface="Microsoft JhengHei"/>
              </a:rPr>
              <a:t>我直接說「設定沒生效，查一下」，</a:t>
            </a:r>
          </a:p>
          <a:p>
            <a:pPr>
              <a:lnSpc>
                <a:spcPct val="130000"/>
              </a:lnSpc>
            </a:pPr>
            <a:r>
              <a:rPr sz="1637">
                <a:solidFill>
                  <a:srgbClr val="1B2A38"/>
                </a:solidFill>
                <a:latin typeface="Microsoft JhengHei"/>
              </a:rPr>
              <a:t>它自己去翻程式碼、比對設定檔、</a:t>
            </a:r>
          </a:p>
          <a:p>
            <a:pPr>
              <a:lnSpc>
                <a:spcPct val="130000"/>
              </a:lnSpc>
            </a:pPr>
            <a:r>
              <a:rPr sz="1637">
                <a:solidFill>
                  <a:srgbClr val="1B2A38"/>
                </a:solidFill>
                <a:latin typeface="Microsoft JhengHei"/>
              </a:rPr>
              <a:t>找到原因、改好、跑測試，</a:t>
            </a:r>
          </a:p>
          <a:p>
            <a:pPr>
              <a:lnSpc>
                <a:spcPct val="130000"/>
              </a:lnSpc>
            </a:pPr>
            <a:r>
              <a:rPr sz="1637" b="1">
                <a:solidFill>
                  <a:srgbClr val="0E9C8A"/>
                </a:solidFill>
                <a:latin typeface="Microsoft JhengHei"/>
              </a:rPr>
              <a:t>我只要看結果決定收不收。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這是我每天的工作畫面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一個視窗完成所有事 — 不需要在瀏覽器與編輯器之間來回搬字串</a:t>
            </a:r>
          </a:p>
        </p:txBody>
      </p:sp>
      <p:pic>
        <p:nvPicPr>
          <p:cNvPr id="6" name="Picture 5" descr="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0" y="1411915"/>
            <a:ext cx="8927663" cy="50334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8050" y="1411914"/>
            <a:ext cx="8927663" cy="5035844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B8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Rectangle 7"/>
          <p:cNvSpPr/>
          <p:nvPr/>
        </p:nvSpPr>
        <p:spPr>
          <a:xfrm>
            <a:off x="588050" y="1411914"/>
            <a:ext cx="1518237" cy="4980561"/>
          </a:xfrm>
          <a:prstGeom prst="rect">
            <a:avLst/>
          </a:prstGeom>
          <a:noFill/>
          <a:ln w="31750">
            <a:solidFill>
              <a:srgbClr val="1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9" name="Rectangle 8"/>
          <p:cNvSpPr/>
          <p:nvPr/>
        </p:nvSpPr>
        <p:spPr>
          <a:xfrm>
            <a:off x="2159746" y="1411915"/>
            <a:ext cx="3645908" cy="3603142"/>
          </a:xfrm>
          <a:prstGeom prst="rect">
            <a:avLst/>
          </a:prstGeom>
          <a:noFill/>
          <a:ln w="31750">
            <a:solidFill>
              <a:srgbClr val="8B5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0" name="Rectangle 9"/>
          <p:cNvSpPr/>
          <p:nvPr/>
        </p:nvSpPr>
        <p:spPr>
          <a:xfrm>
            <a:off x="5869805" y="1411915"/>
            <a:ext cx="3645908" cy="3603142"/>
          </a:xfrm>
          <a:prstGeom prst="rect">
            <a:avLst/>
          </a:prstGeom>
          <a:noFill/>
          <a:ln w="3175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588050" y="6469142"/>
            <a:ext cx="1518237" cy="32075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588050" y="6533294"/>
            <a:ext cx="1518237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69" b="1">
                <a:solidFill>
                  <a:srgbClr val="FFFFFF"/>
                </a:solidFill>
                <a:latin typeface="Microsoft JhengHei"/>
              </a:rPr>
              <a:t>① 專案檔案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6287" y="6469142"/>
            <a:ext cx="3763518" cy="320754"/>
          </a:xfrm>
          <a:prstGeom prst="rect">
            <a:avLst/>
          </a:prstGeom>
          <a:solidFill>
            <a:srgbClr val="8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TextBox 13"/>
          <p:cNvSpPr txBox="1"/>
          <p:nvPr/>
        </p:nvSpPr>
        <p:spPr>
          <a:xfrm>
            <a:off x="2106287" y="6533294"/>
            <a:ext cx="3635216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69" b="1">
                <a:solidFill>
                  <a:srgbClr val="FFFFFF"/>
                </a:solidFill>
                <a:latin typeface="Microsoft JhengHei"/>
              </a:rPr>
              <a:t>② 我在看的程式碼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69805" y="6469142"/>
            <a:ext cx="3645908" cy="32075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6" name="TextBox 15"/>
          <p:cNvSpPr txBox="1"/>
          <p:nvPr/>
        </p:nvSpPr>
        <p:spPr>
          <a:xfrm>
            <a:off x="5869805" y="6533294"/>
            <a:ext cx="3635216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69" b="1">
                <a:solidFill>
                  <a:srgbClr val="FFFFFF"/>
                </a:solidFill>
                <a:latin typeface="Microsoft JhengHei"/>
              </a:rPr>
              <a:t>③ Agent 就在旁邊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3008" y="1443990"/>
            <a:ext cx="3849053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1E6FD9"/>
                </a:solidFill>
                <a:latin typeface="Microsoft JhengHei"/>
              </a:rPr>
              <a:t>畫面上正在發生的事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3008" y="1903738"/>
            <a:ext cx="1496854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Rectangle 18"/>
          <p:cNvSpPr/>
          <p:nvPr/>
        </p:nvSpPr>
        <p:spPr>
          <a:xfrm>
            <a:off x="9783008" y="2224491"/>
            <a:ext cx="51974" cy="342138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0" name="TextBox 19"/>
          <p:cNvSpPr txBox="1"/>
          <p:nvPr/>
        </p:nvSpPr>
        <p:spPr>
          <a:xfrm>
            <a:off x="9996845" y="2192416"/>
            <a:ext cx="3635216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5A6B7B"/>
                </a:solidFill>
                <a:latin typeface="Microsoft JhengHei"/>
              </a:rPr>
              <a:t>我打了一句話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6845" y="2513171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「讀一下 mars 的 memory」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3008" y="3026377"/>
            <a:ext cx="51974" cy="342138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9996845" y="2994302"/>
            <a:ext cx="3635216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0E9C8A"/>
                </a:solidFill>
                <a:latin typeface="Microsoft JhengHei"/>
              </a:rPr>
              <a:t>它回報上次進度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6845" y="3315057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上個 session 完成的 4 件事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6845" y="3571660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（含測試通過數、對照結果）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3008" y="4095558"/>
            <a:ext cx="51974" cy="34213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9996845" y="4063484"/>
            <a:ext cx="3635216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E87A2B"/>
                </a:solidFill>
                <a:latin typeface="Microsoft JhengHei"/>
              </a:rPr>
              <a:t>它列出待辦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6845" y="4384238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6 項未完成 TODO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6845" y="4640842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1 項已知問題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3008" y="5164740"/>
            <a:ext cx="51974" cy="34213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9996845" y="5132665"/>
            <a:ext cx="3635216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E6FD9"/>
                </a:solidFill>
                <a:latin typeface="Microsoft JhengHei"/>
              </a:rPr>
              <a:t>它主動提醒我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6845" y="5453419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「這份記憶檔開頭是描述 C# 版，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6845" y="5710023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但你近期都在 Python 版，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6845" y="5966626"/>
            <a:ext cx="368867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1B2A38"/>
                </a:solidFill>
                <a:latin typeface="Microsoft JhengHei"/>
              </a:rPr>
              <a:t>要不要幫你分段標清楚？」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3008" y="5881092"/>
            <a:ext cx="3849053" cy="1229558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6" name="TextBox 35"/>
          <p:cNvSpPr txBox="1"/>
          <p:nvPr/>
        </p:nvSpPr>
        <p:spPr>
          <a:xfrm>
            <a:off x="10050304" y="6073546"/>
            <a:ext cx="3421380" cy="745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86">
                <a:solidFill>
                  <a:srgbClr val="1B2A38"/>
                </a:solidFill>
                <a:latin typeface="Microsoft JhengHei"/>
              </a:rPr>
              <a:t>最後那句「主動提醒」，</a:t>
            </a:r>
          </a:p>
          <a:p>
            <a:pPr>
              <a:lnSpc>
                <a:spcPct val="130000"/>
              </a:lnSpc>
            </a:pPr>
            <a:r>
              <a:rPr sz="1286" b="1">
                <a:solidFill>
                  <a:srgbClr val="0E9C8A"/>
                </a:solidFill>
                <a:latin typeface="Microsoft JhengHei"/>
              </a:rPr>
              <a:t>是我沒問、它自己發現的。</a:t>
            </a:r>
          </a:p>
          <a:p>
            <a:pPr>
              <a:lnSpc>
                <a:spcPct val="130000"/>
              </a:lnSpc>
            </a:pPr>
            <a:r>
              <a:rPr sz="1286">
                <a:solidFill>
                  <a:srgbClr val="1B2A38"/>
                </a:solidFill>
                <a:latin typeface="Microsoft JhengHei"/>
              </a:rPr>
              <a:t>網頁版不會知道我有這個檔案。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TextBox 37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重點不是畫面漂亮 — 是「它跟我看到同一個專案」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3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77B9B38D-2EE0-BCED-BB94-FA0001BD4B83}"/>
              </a:ext>
            </a:extLst>
          </p:cNvPr>
          <p:cNvSpPr/>
          <p:nvPr/>
        </p:nvSpPr>
        <p:spPr>
          <a:xfrm>
            <a:off x="2159746" y="5079207"/>
            <a:ext cx="7355967" cy="1313269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與網頁版 Chat AI 的差異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同樣是 AI，工作方式完全不同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1509" y="1518833"/>
            <a:ext cx="3528298" cy="513207"/>
          </a:xfrm>
          <a:prstGeom prst="rect">
            <a:avLst/>
          </a:prstGeom>
          <a:solidFill>
            <a:srgbClr val="E2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4223266" y="1518833"/>
            <a:ext cx="4597479" cy="513207"/>
          </a:xfrm>
          <a:prstGeom prst="rect">
            <a:avLst/>
          </a:prstGeom>
          <a:solidFill>
            <a:srgbClr val="FA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Rectangle 7"/>
          <p:cNvSpPr/>
          <p:nvPr/>
        </p:nvSpPr>
        <p:spPr>
          <a:xfrm>
            <a:off x="8874205" y="1518833"/>
            <a:ext cx="4736472" cy="513207"/>
          </a:xfrm>
          <a:prstGeom prst="rect">
            <a:avLst/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9" name="TextBox 8"/>
          <p:cNvSpPr txBox="1"/>
          <p:nvPr/>
        </p:nvSpPr>
        <p:spPr>
          <a:xfrm>
            <a:off x="855345" y="1636443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比較項目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7102" y="1636443"/>
            <a:ext cx="4276725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E87A2B"/>
                </a:solidFill>
                <a:latin typeface="Microsoft JhengHei"/>
              </a:rPr>
              <a:t>網頁版 Chat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8041" y="1636443"/>
            <a:ext cx="4383642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0E9C8A"/>
                </a:solidFill>
                <a:latin typeface="Microsoft JhengHei"/>
              </a:rPr>
              <a:t>VS Code Coding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509" y="2117574"/>
            <a:ext cx="12969169" cy="769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3" name="Rectangle 12"/>
          <p:cNvSpPr/>
          <p:nvPr/>
        </p:nvSpPr>
        <p:spPr>
          <a:xfrm>
            <a:off x="641509" y="2117574"/>
            <a:ext cx="44549" cy="769811"/>
          </a:xfrm>
          <a:prstGeom prst="rect">
            <a:avLst/>
          </a:prstGeom>
          <a:solidFill>
            <a:srgbClr val="C5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TextBox 13"/>
          <p:cNvSpPr txBox="1"/>
          <p:nvPr/>
        </p:nvSpPr>
        <p:spPr>
          <a:xfrm>
            <a:off x="855345" y="2352795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取得程式碼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7102" y="2352795"/>
            <a:ext cx="42767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5A6B7B"/>
                </a:solidFill>
                <a:latin typeface="Microsoft JhengHei"/>
              </a:rPr>
              <a:t>我手動複製貼上，貼多少看多少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041" y="2352795"/>
            <a:ext cx="4383642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1B2A38"/>
                </a:solidFill>
                <a:latin typeface="Microsoft JhengHei"/>
              </a:rPr>
              <a:t>自己開檔案讀，需要什麼找什麼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509" y="2919460"/>
            <a:ext cx="12969169" cy="76981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8" name="Rectangle 17"/>
          <p:cNvSpPr/>
          <p:nvPr/>
        </p:nvSpPr>
        <p:spPr>
          <a:xfrm>
            <a:off x="641509" y="2919460"/>
            <a:ext cx="44549" cy="769811"/>
          </a:xfrm>
          <a:prstGeom prst="rect">
            <a:avLst/>
          </a:prstGeom>
          <a:solidFill>
            <a:srgbClr val="C5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TextBox 18"/>
          <p:cNvSpPr txBox="1"/>
          <p:nvPr/>
        </p:nvSpPr>
        <p:spPr>
          <a:xfrm>
            <a:off x="855345" y="3154681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修改程式碼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7102" y="3154681"/>
            <a:ext cx="42767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5A6B7B"/>
                </a:solidFill>
                <a:latin typeface="Microsoft JhengHei"/>
              </a:rPr>
              <a:t>給我文字，我自己貼回去、自己找位置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8041" y="3154681"/>
            <a:ext cx="4383642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1B2A38"/>
                </a:solidFill>
                <a:latin typeface="Microsoft JhengHei"/>
              </a:rPr>
              <a:t>直接改在檔案上，我看 diff 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509" y="3721346"/>
            <a:ext cx="12969169" cy="769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Rectangle 22"/>
          <p:cNvSpPr/>
          <p:nvPr/>
        </p:nvSpPr>
        <p:spPr>
          <a:xfrm>
            <a:off x="641509" y="3721346"/>
            <a:ext cx="44549" cy="769811"/>
          </a:xfrm>
          <a:prstGeom prst="rect">
            <a:avLst/>
          </a:prstGeom>
          <a:solidFill>
            <a:srgbClr val="C5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4" name="TextBox 23"/>
          <p:cNvSpPr txBox="1"/>
          <p:nvPr/>
        </p:nvSpPr>
        <p:spPr>
          <a:xfrm>
            <a:off x="855345" y="3956567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驗證改對沒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7102" y="3956567"/>
            <a:ext cx="42767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5A6B7B"/>
                </a:solidFill>
                <a:latin typeface="Microsoft JhengHei"/>
              </a:rPr>
              <a:t>沒辦法，只能我自己編譯測試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8041" y="3956567"/>
            <a:ext cx="4383642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1B2A38"/>
                </a:solidFill>
                <a:latin typeface="Microsoft JhengHei"/>
              </a:rPr>
              <a:t>自己跑編譯與測試，失敗會回頭修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509" y="4523232"/>
            <a:ext cx="12969169" cy="76981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8" name="Rectangle 27"/>
          <p:cNvSpPr/>
          <p:nvPr/>
        </p:nvSpPr>
        <p:spPr>
          <a:xfrm>
            <a:off x="641509" y="4523232"/>
            <a:ext cx="44549" cy="769811"/>
          </a:xfrm>
          <a:prstGeom prst="rect">
            <a:avLst/>
          </a:prstGeom>
          <a:solidFill>
            <a:srgbClr val="C5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855345" y="4758453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跨檔案影響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7102" y="4758453"/>
            <a:ext cx="42767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5A6B7B"/>
                </a:solidFill>
                <a:latin typeface="Microsoft JhengHei"/>
              </a:rPr>
              <a:t>看不到其他檔案，改壞了不知道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8041" y="4758453"/>
            <a:ext cx="4383642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1B2A38"/>
                </a:solidFill>
                <a:latin typeface="Microsoft JhengHei"/>
              </a:rPr>
              <a:t>全專案搜尋，一次找出所有相關處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509" y="5325118"/>
            <a:ext cx="12969169" cy="769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Rectangle 32"/>
          <p:cNvSpPr/>
          <p:nvPr/>
        </p:nvSpPr>
        <p:spPr>
          <a:xfrm>
            <a:off x="641509" y="5325118"/>
            <a:ext cx="44549" cy="769811"/>
          </a:xfrm>
          <a:prstGeom prst="rect">
            <a:avLst/>
          </a:prstGeom>
          <a:solidFill>
            <a:srgbClr val="C5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4" name="TextBox 33"/>
          <p:cNvSpPr txBox="1"/>
          <p:nvPr/>
        </p:nvSpPr>
        <p:spPr>
          <a:xfrm>
            <a:off x="855345" y="5560339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專案脈絡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7102" y="5560339"/>
            <a:ext cx="42767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5A6B7B"/>
                </a:solidFill>
                <a:latin typeface="Microsoft JhengHei"/>
              </a:rPr>
              <a:t>每次都要重新解釋一遍背景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8041" y="5560339"/>
            <a:ext cx="4383642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1B2A38"/>
                </a:solidFill>
                <a:latin typeface="Microsoft JhengHei"/>
              </a:rPr>
              <a:t>看得到 git 紀錄、文件、設定檔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09" y="6127004"/>
            <a:ext cx="12969169" cy="76981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Rectangle 37"/>
          <p:cNvSpPr/>
          <p:nvPr/>
        </p:nvSpPr>
        <p:spPr>
          <a:xfrm>
            <a:off x="641509" y="6127004"/>
            <a:ext cx="44549" cy="769811"/>
          </a:xfrm>
          <a:prstGeom prst="rect">
            <a:avLst/>
          </a:prstGeom>
          <a:solidFill>
            <a:srgbClr val="C5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9" name="TextBox 38"/>
          <p:cNvSpPr txBox="1"/>
          <p:nvPr/>
        </p:nvSpPr>
        <p:spPr>
          <a:xfrm>
            <a:off x="855345" y="6362225"/>
            <a:ext cx="3207544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重複流程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7102" y="6362225"/>
            <a:ext cx="42767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5A6B7B"/>
                </a:solidFill>
                <a:latin typeface="Microsoft JhengHei"/>
              </a:rPr>
              <a:t>每次都要重打一次完整指示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8041" y="6362225"/>
            <a:ext cx="4383642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>
                <a:solidFill>
                  <a:srgbClr val="1B2A38"/>
                </a:solidFill>
                <a:latin typeface="Microsoft JhengHei"/>
              </a:rPr>
              <a:t>寫成 Skill，一個指令跑完整套流程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3" name="TextBox 42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網頁版：我是「搬運工」　→　Agent：我是「決策者」，負責判斷與把關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案例①：設定改了卻沒生效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這種問題，網頁版 AI 幾乎不可能幫上忙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390531"/>
            <a:ext cx="6415088" cy="919496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5875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390531"/>
            <a:ext cx="59399" cy="91949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876729" y="1518833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5A6B7B"/>
                </a:solidFill>
                <a:latin typeface="Microsoft JhengHei"/>
              </a:rPr>
              <a:t>開發者（我）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729" y="1839588"/>
            <a:ext cx="5987415" cy="24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79" b="1">
                <a:solidFill>
                  <a:srgbClr val="1B2A38"/>
                </a:solidFill>
                <a:latin typeface="Microsoft JhengHei"/>
              </a:rPr>
              <a:t>設定明明寫 1.7，開起來卻是 1.4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509" y="2438328"/>
            <a:ext cx="6415088" cy="2587419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641509" y="2438328"/>
            <a:ext cx="59399" cy="258741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876729" y="2566631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Code（Agent）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729" y="2908768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我去查設定是怎麼被讀進來的：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729" y="3229523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93A8BE"/>
                </a:solidFill>
                <a:latin typeface="Microsoft JhengHei"/>
              </a:rPr>
              <a:t>讀 ConfigModule.cs → 用 Windows 舊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729" y="3550277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93A8BE"/>
                </a:solidFill>
                <a:latin typeface="Microsoft JhengHei"/>
              </a:rPr>
              <a:t>檢查 ini 檔的實際位元組……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729" y="3871031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找到了：檔案開頭有 UTF-8 BOM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729" y="4191786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這個 API 不認 BOM，會讓第一個區段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729" y="4512540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整段失效 → 全部吃預設值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509" y="5154049"/>
            <a:ext cx="6415088" cy="919496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5875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0" name="Rectangle 19"/>
          <p:cNvSpPr/>
          <p:nvPr/>
        </p:nvSpPr>
        <p:spPr>
          <a:xfrm>
            <a:off x="641509" y="5154049"/>
            <a:ext cx="59399" cy="91949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1" name="TextBox 20"/>
          <p:cNvSpPr txBox="1"/>
          <p:nvPr/>
        </p:nvSpPr>
        <p:spPr>
          <a:xfrm>
            <a:off x="876729" y="5282351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5A6B7B"/>
                </a:solidFill>
                <a:latin typeface="Microsoft JhengHei"/>
              </a:rPr>
              <a:t>開發者（我）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729" y="5603106"/>
            <a:ext cx="5987415" cy="24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79" b="1">
                <a:solidFill>
                  <a:srgbClr val="1B2A38"/>
                </a:solidFill>
                <a:latin typeface="Microsoft JhengHei"/>
              </a:rPr>
              <a:t>修掉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509" y="6201846"/>
            <a:ext cx="6415088" cy="1625156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4" name="Rectangle 23"/>
          <p:cNvSpPr/>
          <p:nvPr/>
        </p:nvSpPr>
        <p:spPr>
          <a:xfrm>
            <a:off x="641509" y="6201846"/>
            <a:ext cx="59399" cy="1625156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TextBox 24"/>
          <p:cNvSpPr txBox="1"/>
          <p:nvPr/>
        </p:nvSpPr>
        <p:spPr>
          <a:xfrm>
            <a:off x="876729" y="6330149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Code（Agent）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729" y="6672286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已移除 BOM 並驗證：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729" y="6993041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前 3 bytes = 5b 53 65（[Se）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729" y="7313795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Tester_Protocol = 1.7 正常生效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30810" y="1443990"/>
            <a:ext cx="6179868" cy="2084903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0" name="TextBox 29"/>
          <p:cNvSpPr txBox="1"/>
          <p:nvPr/>
        </p:nvSpPr>
        <p:spPr>
          <a:xfrm>
            <a:off x="7698105" y="1689902"/>
            <a:ext cx="5666661" cy="1745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286" b="1" dirty="0" err="1">
                <a:solidFill>
                  <a:srgbClr val="CCCCCC"/>
                </a:solidFill>
                <a:latin typeface="Microsoft JhengHei"/>
              </a:rPr>
              <a:t>檔案開頭的實際位元組</a:t>
            </a:r>
            <a:endParaRPr sz="1286" b="1" dirty="0">
              <a:solidFill>
                <a:srgbClr val="CCCCCC"/>
              </a:solidFill>
              <a:latin typeface="Microsoft JhengHei"/>
            </a:endParaRPr>
          </a:p>
          <a:p>
            <a:pPr>
              <a:lnSpc>
                <a:spcPct val="132000"/>
              </a:lnSpc>
            </a:pPr>
            <a:endParaRPr sz="1286" b="1" dirty="0">
              <a:solidFill>
                <a:srgbClr val="CCCCCC"/>
              </a:solidFill>
              <a:latin typeface="Microsoft JhengHei"/>
            </a:endParaRPr>
          </a:p>
          <a:p>
            <a:pPr>
              <a:lnSpc>
                <a:spcPct val="132000"/>
              </a:lnSpc>
            </a:pPr>
            <a:r>
              <a:rPr sz="1403" dirty="0" err="1">
                <a:solidFill>
                  <a:srgbClr val="F48B6E"/>
                </a:solidFill>
                <a:latin typeface="Consolas"/>
              </a:rPr>
              <a:t>修正前</a:t>
            </a:r>
            <a:r>
              <a:rPr sz="1403" dirty="0">
                <a:solidFill>
                  <a:srgbClr val="F48B6E"/>
                </a:solidFill>
                <a:latin typeface="Consolas"/>
              </a:rPr>
              <a:t>  </a:t>
            </a:r>
            <a:r>
              <a:rPr sz="1403" dirty="0" err="1">
                <a:solidFill>
                  <a:srgbClr val="F48B6E"/>
                </a:solidFill>
                <a:latin typeface="Consolas"/>
              </a:rPr>
              <a:t>ef</a:t>
            </a:r>
            <a:r>
              <a:rPr sz="1403" dirty="0">
                <a:solidFill>
                  <a:srgbClr val="F48B6E"/>
                </a:solidFill>
                <a:latin typeface="Consolas"/>
              </a:rPr>
              <a:t> bb bf 5b 53 65 74</a:t>
            </a:r>
          </a:p>
          <a:p>
            <a:pPr>
              <a:lnSpc>
                <a:spcPct val="132000"/>
              </a:lnSpc>
            </a:pPr>
            <a:r>
              <a:rPr sz="1111" dirty="0">
                <a:solidFill>
                  <a:srgbClr val="999999"/>
                </a:solidFill>
                <a:latin typeface="Microsoft JhengHei"/>
              </a:rPr>
              <a:t>        ↑ </a:t>
            </a:r>
            <a:r>
              <a:rPr sz="1111" dirty="0" err="1">
                <a:solidFill>
                  <a:srgbClr val="999999"/>
                </a:solidFill>
                <a:latin typeface="Microsoft JhengHei"/>
              </a:rPr>
              <a:t>BOM，害</a:t>
            </a:r>
            <a:r>
              <a:rPr sz="1111" dirty="0">
                <a:solidFill>
                  <a:srgbClr val="999999"/>
                </a:solidFill>
                <a:latin typeface="Microsoft JhengHei"/>
              </a:rPr>
              <a:t> [Setting] </a:t>
            </a:r>
            <a:r>
              <a:rPr sz="1111" dirty="0" err="1">
                <a:solidFill>
                  <a:srgbClr val="999999"/>
                </a:solidFill>
                <a:latin typeface="Microsoft JhengHei"/>
              </a:rPr>
              <a:t>整段讀不到</a:t>
            </a:r>
            <a:endParaRPr sz="1111" dirty="0">
              <a:solidFill>
                <a:srgbClr val="999999"/>
              </a:solidFill>
              <a:latin typeface="Microsoft JhengHei"/>
            </a:endParaRPr>
          </a:p>
          <a:p>
            <a:pPr>
              <a:lnSpc>
                <a:spcPct val="132000"/>
              </a:lnSpc>
            </a:pPr>
            <a:endParaRPr sz="1111" dirty="0">
              <a:solidFill>
                <a:srgbClr val="999999"/>
              </a:solidFill>
              <a:latin typeface="Microsoft JhengHei"/>
            </a:endParaRPr>
          </a:p>
          <a:p>
            <a:pPr>
              <a:lnSpc>
                <a:spcPct val="132000"/>
              </a:lnSpc>
            </a:pPr>
            <a:r>
              <a:rPr sz="1403" dirty="0" err="1">
                <a:solidFill>
                  <a:srgbClr val="7ED3C5"/>
                </a:solidFill>
                <a:latin typeface="Consolas"/>
              </a:rPr>
              <a:t>修正後</a:t>
            </a:r>
            <a:r>
              <a:rPr sz="1403" dirty="0">
                <a:solidFill>
                  <a:srgbClr val="7ED3C5"/>
                </a:solidFill>
                <a:latin typeface="Consolas"/>
              </a:rPr>
              <a:t>  5b 53 65 74</a:t>
            </a:r>
          </a:p>
          <a:p>
            <a:pPr>
              <a:lnSpc>
                <a:spcPct val="132000"/>
              </a:lnSpc>
            </a:pPr>
            <a:r>
              <a:rPr sz="1111" dirty="0">
                <a:solidFill>
                  <a:srgbClr val="999999"/>
                </a:solidFill>
                <a:latin typeface="Microsoft JhengHei"/>
              </a:rPr>
              <a:t>        ↑ </a:t>
            </a:r>
            <a:r>
              <a:rPr sz="1111" dirty="0" err="1">
                <a:solidFill>
                  <a:srgbClr val="999999"/>
                </a:solidFill>
                <a:latin typeface="Microsoft JhengHei"/>
              </a:rPr>
              <a:t>直接是</a:t>
            </a:r>
            <a:r>
              <a:rPr sz="1111" dirty="0">
                <a:solidFill>
                  <a:srgbClr val="999999"/>
                </a:solidFill>
                <a:latin typeface="Microsoft JhengHei"/>
              </a:rPr>
              <a:t> [</a:t>
            </a:r>
            <a:r>
              <a:rPr sz="1111" dirty="0" err="1">
                <a:solidFill>
                  <a:srgbClr val="999999"/>
                </a:solidFill>
                <a:latin typeface="Microsoft JhengHei"/>
              </a:rPr>
              <a:t>Set，設定正常生效</a:t>
            </a:r>
            <a:endParaRPr sz="1111" dirty="0">
              <a:solidFill>
                <a:srgbClr val="999999"/>
              </a:solidFill>
              <a:latin typeface="Microsoft JhengHe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430810" y="3742730"/>
            <a:ext cx="6179868" cy="171069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 w="1587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2" name="TextBox 31"/>
          <p:cNvSpPr txBox="1"/>
          <p:nvPr/>
        </p:nvSpPr>
        <p:spPr>
          <a:xfrm>
            <a:off x="7751564" y="4010026"/>
            <a:ext cx="5559743" cy="138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20" b="1">
                <a:solidFill>
                  <a:srgbClr val="E87A2B"/>
                </a:solidFill>
                <a:latin typeface="Microsoft JhengHei"/>
              </a:rPr>
              <a:t>為什麼網頁版做不到</a:t>
            </a:r>
          </a:p>
          <a:p>
            <a:pPr>
              <a:lnSpc>
                <a:spcPct val="130000"/>
              </a:lnSpc>
            </a:pPr>
            <a:endParaRPr sz="1520" b="1">
              <a:solidFill>
                <a:srgbClr val="E87A2B"/>
              </a:solidFill>
              <a:latin typeface="Microsoft JhengHei"/>
            </a:endParaRPr>
          </a:p>
          <a:p>
            <a:pPr>
              <a:lnSpc>
                <a:spcPct val="130000"/>
              </a:lnSpc>
            </a:pPr>
            <a:r>
              <a:rPr sz="1345">
                <a:solidFill>
                  <a:srgbClr val="1B2A38"/>
                </a:solidFill>
                <a:latin typeface="Microsoft JhengHei"/>
              </a:rPr>
              <a:t>問題不在「文字內容」，在「看不見的位元組」。</a:t>
            </a:r>
          </a:p>
          <a:p>
            <a:pPr>
              <a:lnSpc>
                <a:spcPct val="130000"/>
              </a:lnSpc>
            </a:pPr>
            <a:r>
              <a:rPr sz="1345">
                <a:solidFill>
                  <a:srgbClr val="1B2A38"/>
                </a:solidFill>
                <a:latin typeface="Microsoft JhengHei"/>
              </a:rPr>
              <a:t>複製貼上會把 BOM 弄丟 —— 貼過去就沒問題了，</a:t>
            </a:r>
          </a:p>
          <a:p>
            <a:pPr>
              <a:lnSpc>
                <a:spcPct val="130000"/>
              </a:lnSpc>
            </a:pPr>
            <a:r>
              <a:rPr sz="1345" b="1">
                <a:solidFill>
                  <a:srgbClr val="C0392B"/>
                </a:solidFill>
                <a:latin typeface="Microsoft JhengHei"/>
              </a:rPr>
              <a:t>但你的檔案還是壞的。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30810" y="5667256"/>
            <a:ext cx="6179868" cy="1389936"/>
          </a:xfrm>
          <a:prstGeom prst="roundRect">
            <a:avLst>
              <a:gd name="adj" fmla="val 5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4" name="TextBox 33"/>
          <p:cNvSpPr txBox="1"/>
          <p:nvPr/>
        </p:nvSpPr>
        <p:spPr>
          <a:xfrm>
            <a:off x="7751564" y="5902476"/>
            <a:ext cx="5559743" cy="769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462" b="1">
                <a:solidFill>
                  <a:srgbClr val="0E9C8A"/>
                </a:solidFill>
                <a:latin typeface="Microsoft JhengHei"/>
              </a:rPr>
              <a:t>後續：它把這個坑寫進記憶</a:t>
            </a:r>
          </a:p>
          <a:p>
            <a:pPr>
              <a:lnSpc>
                <a:spcPct val="128000"/>
              </a:lnSpc>
            </a:pPr>
            <a:r>
              <a:rPr sz="1286">
                <a:solidFill>
                  <a:srgbClr val="1B2A38"/>
                </a:solidFill>
                <a:latin typeface="Microsoft JhengHei"/>
              </a:rPr>
              <a:t>下次我再碰設定檔，它會主動提醒這件事，</a:t>
            </a:r>
          </a:p>
          <a:p>
            <a:pPr>
              <a:lnSpc>
                <a:spcPct val="128000"/>
              </a:lnSpc>
            </a:pPr>
            <a:r>
              <a:rPr sz="1286">
                <a:solidFill>
                  <a:srgbClr val="1B2A38"/>
                </a:solidFill>
                <a:latin typeface="Microsoft JhengHei"/>
              </a:rPr>
              <a:t>不用我重新解釋一遍。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6" name="TextBox 35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Agent 是直接檢查磁碟上那個檔案本身 — 不是看我貼過去的文字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案例②：文件與程式碼對不上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AI 逐條比對，找出沒人會去查的落差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443990"/>
            <a:ext cx="6308169" cy="919496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5875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443990"/>
            <a:ext cx="59399" cy="91949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876729" y="1572293"/>
            <a:ext cx="5880497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5A6B7B"/>
                </a:solidFill>
                <a:latin typeface="Microsoft JhengHei"/>
              </a:rPr>
              <a:t>開發者（我）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729" y="1893047"/>
            <a:ext cx="5880497" cy="24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79" b="1">
                <a:solidFill>
                  <a:srgbClr val="1B2A38"/>
                </a:solidFill>
                <a:latin typeface="Microsoft JhengHei"/>
              </a:rPr>
              <a:t>把專案文件整理一下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509" y="2513171"/>
            <a:ext cx="6308169" cy="2908173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641509" y="2513171"/>
            <a:ext cx="59399" cy="2908173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876729" y="2641474"/>
            <a:ext cx="5880497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Code（Agent）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729" y="2983611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我拿每份文件去對照現行程式碼，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729" y="3304365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發現 5 處對不上：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729" y="3625120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8B6E"/>
                </a:solidFill>
                <a:latin typeface="Consolas"/>
              </a:rPr>
              <a:t>文件教的模組已經重構掉了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729" y="3945874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8B6E"/>
                </a:solidFill>
                <a:latin typeface="Consolas"/>
              </a:rPr>
              <a:t>範例的 API 簽名是舊版的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729" y="4266628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8B6E"/>
                </a:solidFill>
                <a:latin typeface="Consolas"/>
              </a:rPr>
              <a:t>設定檔範例整段是虛構的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729" y="4587383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測試清單少列 15 個檔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729" y="4908137"/>
            <a:ext cx="5880497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提到一個不存在的功能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0810" y="1443990"/>
            <a:ext cx="6179868" cy="83396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1" name="Rectangle 20"/>
          <p:cNvSpPr/>
          <p:nvPr/>
        </p:nvSpPr>
        <p:spPr>
          <a:xfrm>
            <a:off x="7430810" y="1443990"/>
            <a:ext cx="59399" cy="833961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TextBox 21"/>
          <p:cNvSpPr txBox="1"/>
          <p:nvPr/>
        </p:nvSpPr>
        <p:spPr>
          <a:xfrm>
            <a:off x="7751564" y="1561601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文件寫的模組已不存在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1564" y="1871663"/>
            <a:ext cx="5773579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5A6B7B"/>
                </a:solidFill>
                <a:latin typeface="Microsoft JhengHei"/>
              </a:rPr>
              <a:t>Nr1Builder / T1Builder 早就重構掉，文件還在教怎麼改它們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30810" y="2363486"/>
            <a:ext cx="6179868" cy="83396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Rectangle 24"/>
          <p:cNvSpPr/>
          <p:nvPr/>
        </p:nvSpPr>
        <p:spPr>
          <a:xfrm>
            <a:off x="7430810" y="2363486"/>
            <a:ext cx="59399" cy="833961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6" name="TextBox 25"/>
          <p:cNvSpPr txBox="1"/>
          <p:nvPr/>
        </p:nvSpPr>
        <p:spPr>
          <a:xfrm>
            <a:off x="7751564" y="2481097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範例 API 是舊的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1564" y="2791159"/>
            <a:ext cx="5773579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5A6B7B"/>
                </a:solidFill>
                <a:latin typeface="Microsoft JhengHei"/>
              </a:rPr>
              <a:t>教學寫 Get(string)，實際已改成 Get(SfisHeader)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30810" y="3282982"/>
            <a:ext cx="6179868" cy="83396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Rectangle 28"/>
          <p:cNvSpPr/>
          <p:nvPr/>
        </p:nvSpPr>
        <p:spPr>
          <a:xfrm>
            <a:off x="7430810" y="3282982"/>
            <a:ext cx="59399" cy="833961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0" name="TextBox 29"/>
          <p:cNvSpPr txBox="1"/>
          <p:nvPr/>
        </p:nvSpPr>
        <p:spPr>
          <a:xfrm>
            <a:off x="7751564" y="3400592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設定範例整段虛構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1564" y="3710655"/>
            <a:ext cx="5773579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5A6B7B"/>
                </a:solidFill>
                <a:latin typeface="Microsoft JhengHei"/>
              </a:rPr>
              <a:t>章節名與參數名都對不上，新人照填會全錯且不會報錯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30810" y="4202478"/>
            <a:ext cx="6179868" cy="83396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Rectangle 32"/>
          <p:cNvSpPr/>
          <p:nvPr/>
        </p:nvSpPr>
        <p:spPr>
          <a:xfrm>
            <a:off x="7430810" y="4202478"/>
            <a:ext cx="59399" cy="833961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4" name="TextBox 33"/>
          <p:cNvSpPr txBox="1"/>
          <p:nvPr/>
        </p:nvSpPr>
        <p:spPr>
          <a:xfrm>
            <a:off x="7751564" y="4320088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測試清單只涵蓋 4 個檔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1564" y="4630151"/>
            <a:ext cx="5773579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5A6B7B"/>
                </a:solidFill>
                <a:latin typeface="Microsoft JhengHei"/>
              </a:rPr>
              <a:t>實際有 19 個測試檔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0810" y="5121974"/>
            <a:ext cx="6179868" cy="833961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7" name="Rectangle 36"/>
          <p:cNvSpPr/>
          <p:nvPr/>
        </p:nvSpPr>
        <p:spPr>
          <a:xfrm>
            <a:off x="7430810" y="5121974"/>
            <a:ext cx="59399" cy="833961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TextBox 37"/>
          <p:cNvSpPr txBox="1"/>
          <p:nvPr/>
        </p:nvSpPr>
        <p:spPr>
          <a:xfrm>
            <a:off x="7751564" y="5239584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1B2A38"/>
                </a:solidFill>
                <a:latin typeface="Microsoft JhengHei"/>
              </a:rPr>
              <a:t>提到不存在的功能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1564" y="5549647"/>
            <a:ext cx="5773579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>
                <a:solidFill>
                  <a:srgbClr val="5A6B7B"/>
                </a:solidFill>
                <a:latin typeface="Microsoft JhengHei"/>
              </a:rPr>
              <a:t>SN 驗證規則 —— 全專案搜尋確認：根本沒這功能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30810" y="6116312"/>
            <a:ext cx="6179868" cy="983647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1" name="TextBox 40"/>
          <p:cNvSpPr txBox="1"/>
          <p:nvPr/>
        </p:nvSpPr>
        <p:spPr>
          <a:xfrm>
            <a:off x="7751564" y="6330149"/>
            <a:ext cx="5559743" cy="503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345">
                <a:solidFill>
                  <a:srgbClr val="1B2A38"/>
                </a:solidFill>
                <a:latin typeface="Microsoft JhengHei"/>
              </a:rPr>
              <a:t>文件過時不會有人回報 —— 因為看文件的人</a:t>
            </a:r>
          </a:p>
          <a:p>
            <a:pPr>
              <a:lnSpc>
                <a:spcPct val="128000"/>
              </a:lnSpc>
            </a:pPr>
            <a:r>
              <a:rPr sz="1345" b="1">
                <a:solidFill>
                  <a:srgbClr val="C0392B"/>
                </a:solidFill>
                <a:latin typeface="Microsoft JhengHei"/>
              </a:rPr>
              <a:t>不知道它是錯的。新人照著設定，程式不報錯，只會靜靜跑錯。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3" name="TextBox 42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網頁版看不到那 20 個原始碼檔，也沒辦法搜尋「這功能到底存不存在」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案例③：大範圍重構，它自己證明沒改壞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產線在跑的轉檔邏輯 — 改錯就是 SFIS 收到錯字串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411915"/>
            <a:ext cx="6415088" cy="919496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5875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411915"/>
            <a:ext cx="59399" cy="91949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876729" y="1540217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5A6B7B"/>
                </a:solidFill>
                <a:latin typeface="Microsoft JhengHei"/>
              </a:rPr>
              <a:t>開發者（我）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729" y="1860971"/>
            <a:ext cx="5987415" cy="24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79" b="1" dirty="0">
                <a:solidFill>
                  <a:srgbClr val="1B2A38"/>
                </a:solidFill>
                <a:latin typeface="Microsoft JhengHei"/>
              </a:rPr>
              <a:t>SFIS </a:t>
            </a:r>
            <a:r>
              <a:rPr sz="1579" b="1" dirty="0" err="1">
                <a:solidFill>
                  <a:srgbClr val="1B2A38"/>
                </a:solidFill>
                <a:latin typeface="Microsoft JhengHei"/>
              </a:rPr>
              <a:t>字串組法要重構成一個專案一個檔</a:t>
            </a:r>
            <a:endParaRPr sz="1579" b="1" dirty="0">
              <a:solidFill>
                <a:srgbClr val="1B2A38"/>
              </a:solidFill>
              <a:latin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1509" y="2459712"/>
            <a:ext cx="6415088" cy="2266664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641509" y="2459712"/>
            <a:ext cx="59399" cy="226666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876729" y="2588015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Code（Agent）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729" y="2930152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這是產線在跑的邏輯，重構的前提是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729" y="3250906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「輸出必須一模一樣」。我先建立基準：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729" y="3571661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93A8BE"/>
                </a:solidFill>
                <a:latin typeface="Microsoft JhengHei"/>
              </a:rPr>
              <a:t>抓七個專案的真實 ATE 字串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729" y="3892415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93A8BE"/>
                </a:solidFill>
                <a:latin typeface="Microsoft JhengHei"/>
              </a:rPr>
              <a:t>用舊版程式跑一次，存成對照答案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729" y="4213169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接著才動手改架構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509" y="4854678"/>
            <a:ext cx="6415088" cy="194591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Rectangle 18"/>
          <p:cNvSpPr/>
          <p:nvPr/>
        </p:nvSpPr>
        <p:spPr>
          <a:xfrm>
            <a:off x="641509" y="4854678"/>
            <a:ext cx="59399" cy="1945910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0" name="TextBox 19"/>
          <p:cNvSpPr txBox="1"/>
          <p:nvPr/>
        </p:nvSpPr>
        <p:spPr>
          <a:xfrm>
            <a:off x="876729" y="4982981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Code（Agent）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729" y="5325118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改完了，逐行比對七個專案的輸出：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729" y="5645872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全部與重構前完全一致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729" y="5966627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全套件 120 項通過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729" y="6287381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→ 架構換了，但送出去的字串沒變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0810" y="1411915"/>
            <a:ext cx="6201251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E87A2B"/>
                </a:solidFill>
                <a:latin typeface="Microsoft JhengHei"/>
              </a:rPr>
              <a:t>為什麼這件事我自己做很痛苦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0810" y="1839587"/>
            <a:ext cx="1496854" cy="44549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7430810" y="2085499"/>
            <a:ext cx="6201251" cy="110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七個專案 × 每個專案多種測試情境，</a:t>
            </a:r>
          </a:p>
          <a:p>
            <a:pPr>
              <a:lnSpc>
                <a:spcPct val="132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每筆輸出都是一長串逗號分隔字串。</a:t>
            </a:r>
          </a:p>
          <a:p>
            <a:pPr>
              <a:lnSpc>
                <a:spcPct val="132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要人工逐字比對「有沒有哪個欄位跑掉」，</a:t>
            </a:r>
          </a:p>
          <a:p>
            <a:pPr>
              <a:lnSpc>
                <a:spcPct val="132000"/>
              </a:lnSpc>
            </a:pPr>
            <a:r>
              <a:rPr sz="1403" b="1">
                <a:solidFill>
                  <a:srgbClr val="E87A2B"/>
                </a:solidFill>
                <a:latin typeface="Microsoft JhengHei"/>
              </a:rPr>
              <a:t>既花時間又容易看漏。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30810" y="3475434"/>
            <a:ext cx="6179868" cy="1838992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7698105" y="3689271"/>
            <a:ext cx="5720120" cy="1590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28" b="1">
                <a:solidFill>
                  <a:srgbClr val="CCCCCC"/>
                </a:solidFill>
                <a:latin typeface="Microsoft JhengHei"/>
              </a:rPr>
              <a:t>它比對的是這種東西（單筆節錄）</a:t>
            </a:r>
          </a:p>
          <a:p>
            <a:pPr>
              <a:lnSpc>
                <a:spcPct val="130000"/>
              </a:lnSpc>
            </a:pPr>
            <a:endParaRPr sz="1228" b="1">
              <a:solidFill>
                <a:srgbClr val="CCCCCC"/>
              </a:solidFill>
              <a:latin typeface="Microsoft JhengHei"/>
            </a:endParaRPr>
          </a:p>
          <a:p>
            <a:pPr>
              <a:lnSpc>
                <a:spcPct val="130000"/>
              </a:lnSpc>
            </a:pPr>
            <a:r>
              <a:rPr sz="1111">
                <a:solidFill>
                  <a:srgbClr val="DDDDDD"/>
                </a:solidFill>
                <a:latin typeface="Consolas"/>
              </a:rPr>
              <a:t>H039J2305NR131,FYJHU3012DJ...,2,M089898,</a:t>
            </a:r>
          </a:p>
          <a:p>
            <a:pPr>
              <a:lnSpc>
                <a:spcPct val="130000"/>
              </a:lnSpc>
            </a:pPr>
            <a:r>
              <a:rPr sz="1111">
                <a:solidFill>
                  <a:srgbClr val="DDDDDD"/>
                </a:solidFill>
                <a:latin typeface="Consolas"/>
              </a:rPr>
              <a:t>WM2305,,OK,,,TEST_ID6_BDID=264</a:t>
            </a:r>
          </a:p>
          <a:p>
            <a:pPr>
              <a:lnSpc>
                <a:spcPct val="130000"/>
              </a:lnSpc>
            </a:pPr>
            <a:r>
              <a:rPr sz="1111">
                <a:solidFill>
                  <a:srgbClr val="7ED3C5"/>
                </a:solidFill>
                <a:latin typeface="Consolas"/>
              </a:rPr>
              <a:t>TEST_ID7_FUSELVL=12S,2189252-0001G48</a:t>
            </a:r>
          </a:p>
          <a:p>
            <a:pPr>
              <a:lnSpc>
                <a:spcPct val="130000"/>
              </a:lnSpc>
            </a:pPr>
            <a:endParaRPr sz="1111">
              <a:solidFill>
                <a:srgbClr val="7ED3C5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169">
                <a:solidFill>
                  <a:srgbClr val="999999"/>
                </a:solidFill>
                <a:latin typeface="Microsoft JhengHei"/>
              </a:rPr>
              <a:t>每個欄位都不能錯位、不能多也不能少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30810" y="5506879"/>
            <a:ext cx="6179868" cy="1603772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7751564" y="5752791"/>
            <a:ext cx="5559743" cy="1129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79" b="1" dirty="0" err="1">
                <a:solidFill>
                  <a:srgbClr val="0E9C8A"/>
                </a:solidFill>
                <a:latin typeface="Microsoft JhengHei"/>
              </a:rPr>
              <a:t>差別在這裡</a:t>
            </a:r>
            <a:endParaRPr sz="1579" b="1" dirty="0">
              <a:solidFill>
                <a:srgbClr val="0E9C8A"/>
              </a:solidFill>
              <a:latin typeface="Microsoft JhengHei"/>
            </a:endParaRPr>
          </a:p>
          <a:p>
            <a:pPr>
              <a:lnSpc>
                <a:spcPct val="130000"/>
              </a:lnSpc>
            </a:pPr>
            <a:r>
              <a:rPr sz="1403" dirty="0" err="1">
                <a:solidFill>
                  <a:srgbClr val="1B2A38"/>
                </a:solidFill>
                <a:latin typeface="Microsoft JhengHei"/>
              </a:rPr>
              <a:t>網頁版：它不知道「改之前長什麼樣</a:t>
            </a:r>
            <a:r>
              <a:rPr sz="1403" dirty="0">
                <a:solidFill>
                  <a:srgbClr val="1B2A38"/>
                </a:solidFill>
                <a:latin typeface="Microsoft JhengHei"/>
              </a:rPr>
              <a:t>」，</a:t>
            </a:r>
          </a:p>
          <a:p>
            <a:pPr>
              <a:lnSpc>
                <a:spcPct val="130000"/>
              </a:lnSpc>
            </a:pPr>
            <a:r>
              <a:rPr sz="1403" dirty="0">
                <a:solidFill>
                  <a:srgbClr val="1B2A38"/>
                </a:solidFill>
                <a:latin typeface="Microsoft JhengHei"/>
              </a:rPr>
              <a:t>　　　　</a:t>
            </a:r>
            <a:r>
              <a:rPr sz="1403" dirty="0" err="1">
                <a:solidFill>
                  <a:srgbClr val="1B2A38"/>
                </a:solidFill>
                <a:latin typeface="Microsoft JhengHei"/>
              </a:rPr>
              <a:t>沒有基準可對，只能靠我自己驗</a:t>
            </a:r>
            <a:r>
              <a:rPr sz="1403" dirty="0">
                <a:solidFill>
                  <a:srgbClr val="1B2A38"/>
                </a:solidFill>
                <a:latin typeface="Microsoft JhengHei"/>
              </a:rPr>
              <a:t>。</a:t>
            </a:r>
          </a:p>
          <a:p>
            <a:pPr>
              <a:lnSpc>
                <a:spcPct val="130000"/>
              </a:lnSpc>
            </a:pPr>
            <a:r>
              <a:rPr sz="1403" b="1" dirty="0" err="1">
                <a:solidFill>
                  <a:srgbClr val="0E9C8A"/>
                </a:solidFill>
                <a:latin typeface="Microsoft JhengHei"/>
              </a:rPr>
              <a:t>Agent：自己建基準、自己比對、自己回報</a:t>
            </a:r>
            <a:r>
              <a:rPr sz="1403" b="1" dirty="0">
                <a:solidFill>
                  <a:srgbClr val="0E9C8A"/>
                </a:solidFill>
                <a:latin typeface="Microsoft JhengHei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TextBox 32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重構最怕的是「改壞了但沒發現」— 它把這件事變成可以被證明的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案例④：它記得我上次做到哪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這是我每天早上開工的第一件事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390531"/>
            <a:ext cx="6415088" cy="919496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5875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390531"/>
            <a:ext cx="59399" cy="91949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876729" y="1518833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5A6B7B"/>
                </a:solidFill>
                <a:latin typeface="Microsoft JhengHei"/>
              </a:rPr>
              <a:t>開發者（我）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729" y="1839588"/>
            <a:ext cx="5987415" cy="24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79" b="1">
                <a:solidFill>
                  <a:srgbClr val="1B2A38"/>
                </a:solidFill>
                <a:latin typeface="Microsoft JhengHei"/>
              </a:rPr>
              <a:t>讀一下 mars 的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509" y="2438329"/>
            <a:ext cx="6415088" cy="3228927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641509" y="2438329"/>
            <a:ext cx="59399" cy="3228927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876729" y="2566631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Code（Agent）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729" y="2908768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上個 session 完成的事：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729" y="3229523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SN 去重（對齊 Octavia）全套件通過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729" y="3550277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新 golden 檔 + protocol 對照完成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729" y="3871031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7ED3C5"/>
                </a:solidFill>
                <a:latin typeface="Consolas"/>
              </a:rPr>
              <a:t>FAIL 排序謎團釐清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729" y="4191786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未完成的 TODO：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729" y="4512540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TESTRES 端到端 TCP 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729" y="4833294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B86E"/>
                </a:solidFill>
                <a:latin typeface="Microsoft JhengHei"/>
              </a:rPr>
              <a:t>CHKROUT 查 SFIS 決定 OK/NG 的真實邏輯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729" y="5154049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F48B6E"/>
                </a:solidFill>
                <a:latin typeface="Consolas"/>
              </a:rPr>
              <a:t>已知問題：WAL-COMPLETE 在 log 出現兩次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509" y="5795557"/>
            <a:ext cx="6415088" cy="1625156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Rectangle 21"/>
          <p:cNvSpPr/>
          <p:nvPr/>
        </p:nvSpPr>
        <p:spPr>
          <a:xfrm>
            <a:off x="641509" y="5795557"/>
            <a:ext cx="59399" cy="1625156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876729" y="5923860"/>
            <a:ext cx="5987415" cy="1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69" b="1">
                <a:solidFill>
                  <a:srgbClr val="0E9C8A"/>
                </a:solidFill>
                <a:latin typeface="Microsoft JhengHei"/>
              </a:rPr>
              <a:t>Claude Code（我沒問，它自己補的）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729" y="6265997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有一點想提醒你：這份記憶檔開頭幾段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729" y="6586752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是描述 C# 版，但你近期都在 Python 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729" y="6907506"/>
            <a:ext cx="5987415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E2EAF2"/>
                </a:solidFill>
                <a:latin typeface="Microsoft JhengHei"/>
              </a:rPr>
              <a:t>要我幫你分段標清楚嗎？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0810" y="1390531"/>
            <a:ext cx="6201251" cy="26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54" b="1">
                <a:solidFill>
                  <a:srgbClr val="1E6FD9"/>
                </a:solidFill>
                <a:latin typeface="Microsoft JhengHei"/>
              </a:rPr>
              <a:t>這對我的實際意義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30810" y="1871663"/>
            <a:ext cx="1496854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Rounded Rectangle 28"/>
          <p:cNvSpPr/>
          <p:nvPr/>
        </p:nvSpPr>
        <p:spPr>
          <a:xfrm>
            <a:off x="7430810" y="2299335"/>
            <a:ext cx="6201251" cy="10905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0" name="Rectangle 29"/>
          <p:cNvSpPr/>
          <p:nvPr/>
        </p:nvSpPr>
        <p:spPr>
          <a:xfrm>
            <a:off x="7430810" y="2299335"/>
            <a:ext cx="59399" cy="1090565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7783639" y="2470404"/>
            <a:ext cx="5666661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20" b="1">
                <a:solidFill>
                  <a:srgbClr val="0E9C8A"/>
                </a:solidFill>
                <a:latin typeface="Microsoft JhengHei"/>
              </a:rPr>
              <a:t>不用重新交代背景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3639" y="2833926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以前用網頁版，每次開新對話都要重講一次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3639" y="3101221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專案架構、上次改到哪、有什麼坑。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0810" y="3582352"/>
            <a:ext cx="6201251" cy="10905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5" name="Rectangle 34"/>
          <p:cNvSpPr/>
          <p:nvPr/>
        </p:nvSpPr>
        <p:spPr>
          <a:xfrm>
            <a:off x="7430810" y="3582352"/>
            <a:ext cx="59399" cy="1090565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6" name="TextBox 35"/>
          <p:cNvSpPr txBox="1"/>
          <p:nvPr/>
        </p:nvSpPr>
        <p:spPr>
          <a:xfrm>
            <a:off x="7783639" y="3753422"/>
            <a:ext cx="5666661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20" b="1">
                <a:solidFill>
                  <a:srgbClr val="0E9C8A"/>
                </a:solidFill>
                <a:latin typeface="Microsoft JhengHei"/>
              </a:rPr>
              <a:t>接得回中斷的工作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3639" y="4116943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隔幾天回來、或中間插件別的事，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3639" y="4384238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回來一句話就接上，不用自己翻筆記。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30810" y="4865370"/>
            <a:ext cx="6201251" cy="1368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0" name="Rectangle 39"/>
          <p:cNvSpPr/>
          <p:nvPr/>
        </p:nvSpPr>
        <p:spPr>
          <a:xfrm>
            <a:off x="7430810" y="4865370"/>
            <a:ext cx="59399" cy="136855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1" name="TextBox 40"/>
          <p:cNvSpPr txBox="1"/>
          <p:nvPr/>
        </p:nvSpPr>
        <p:spPr>
          <a:xfrm>
            <a:off x="7783639" y="5036439"/>
            <a:ext cx="5666661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20" b="1">
                <a:solidFill>
                  <a:srgbClr val="1E6FD9"/>
                </a:solidFill>
                <a:latin typeface="Microsoft JhengHei"/>
              </a:rPr>
              <a:t>它會主動指出落差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3639" y="5399961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上圖最後那段是它自己發現的 ——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3639" y="5667256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我根本沒問，它注意到記憶檔內容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83639" y="5934551"/>
            <a:ext cx="572012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1B2A38"/>
                </a:solidFill>
                <a:latin typeface="Microsoft JhengHei"/>
              </a:rPr>
              <a:t>跟我近期工作對不上。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30810" y="6362224"/>
            <a:ext cx="6201251" cy="748427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6" name="TextBox 45"/>
          <p:cNvSpPr txBox="1"/>
          <p:nvPr/>
        </p:nvSpPr>
        <p:spPr>
          <a:xfrm>
            <a:off x="7783639" y="6543985"/>
            <a:ext cx="5666661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0E9C8A"/>
                </a:solidFill>
                <a:latin typeface="Microsoft JhengHei"/>
              </a:rPr>
              <a:t>目前累積 24 份專案記憶（Octavia + Mars）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8" name="TextBox 47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網頁版每開一個新對話，就是一張白紙 — 我得從頭講起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特有功能①：把流程固化成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教它一次標準做法，之後一句話就跑完整套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509" y="1390532"/>
            <a:ext cx="12937093" cy="24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79" b="1">
                <a:solidFill>
                  <a:srgbClr val="1B2A38"/>
                </a:solidFill>
                <a:latin typeface="Microsoft JhengHei"/>
              </a:rPr>
              <a:t>我目前安裝了 14 個 Skill，實際用在 Mars 專案的開發流程上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09" y="1978581"/>
            <a:ext cx="4191191" cy="19779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Rectangle 7"/>
          <p:cNvSpPr/>
          <p:nvPr/>
        </p:nvSpPr>
        <p:spPr>
          <a:xfrm>
            <a:off x="641509" y="1978581"/>
            <a:ext cx="4191191" cy="5939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9" name="TextBox 8"/>
          <p:cNvSpPr txBox="1"/>
          <p:nvPr/>
        </p:nvSpPr>
        <p:spPr>
          <a:xfrm>
            <a:off x="908804" y="2267260"/>
            <a:ext cx="3742134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1E6FD9"/>
                </a:solidFill>
                <a:latin typeface="Microsoft JhengHei"/>
              </a:rPr>
              <a:t>設計階段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804" y="2727008"/>
            <a:ext cx="3742134" cy="213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28">
                <a:solidFill>
                  <a:srgbClr val="1B2A38"/>
                </a:solidFill>
                <a:latin typeface="Microsoft JhengHei"/>
              </a:rPr>
              <a:t>brainstorming　把想法談成設計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804" y="3282982"/>
            <a:ext cx="3742134" cy="213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28">
                <a:solidFill>
                  <a:srgbClr val="1B2A38"/>
                </a:solidFill>
                <a:latin typeface="Microsoft JhengHei"/>
              </a:rPr>
              <a:t>writing-plans　把設計拆成可執行計畫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4460" y="1978581"/>
            <a:ext cx="4191191" cy="19779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3" name="Rectangle 12"/>
          <p:cNvSpPr/>
          <p:nvPr/>
        </p:nvSpPr>
        <p:spPr>
          <a:xfrm>
            <a:off x="5014460" y="1978581"/>
            <a:ext cx="4191191" cy="5939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TextBox 13"/>
          <p:cNvSpPr txBox="1"/>
          <p:nvPr/>
        </p:nvSpPr>
        <p:spPr>
          <a:xfrm>
            <a:off x="5281756" y="2267260"/>
            <a:ext cx="3742134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0E9C8A"/>
                </a:solidFill>
                <a:latin typeface="Microsoft JhengHei"/>
              </a:rPr>
              <a:t>開發階段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1756" y="2727007"/>
            <a:ext cx="3742134" cy="213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28">
                <a:solidFill>
                  <a:srgbClr val="1B2A38"/>
                </a:solidFill>
                <a:latin typeface="Microsoft JhengHei"/>
              </a:rPr>
              <a:t>test-driven-development　先寫測試再寫程式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1756" y="3282982"/>
            <a:ext cx="3742134" cy="449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28">
                <a:solidFill>
                  <a:srgbClr val="1B2A38"/>
                </a:solidFill>
                <a:latin typeface="Microsoft JhengHei"/>
              </a:rPr>
              <a:t>subagent-driven-development　分派子任務平行處理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7411" y="1978581"/>
            <a:ext cx="4191191" cy="19779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8" name="Rectangle 17"/>
          <p:cNvSpPr/>
          <p:nvPr/>
        </p:nvSpPr>
        <p:spPr>
          <a:xfrm>
            <a:off x="9387411" y="1978581"/>
            <a:ext cx="4191191" cy="59399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TextBox 18"/>
          <p:cNvSpPr txBox="1"/>
          <p:nvPr/>
        </p:nvSpPr>
        <p:spPr>
          <a:xfrm>
            <a:off x="9654707" y="2267260"/>
            <a:ext cx="3742134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E87A2B"/>
                </a:solidFill>
                <a:latin typeface="Microsoft JhengHei"/>
              </a:rPr>
              <a:t>品質把關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4707" y="2727008"/>
            <a:ext cx="3742134" cy="213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28">
                <a:solidFill>
                  <a:srgbClr val="1B2A38"/>
                </a:solidFill>
                <a:latin typeface="Microsoft JhengHei"/>
              </a:rPr>
              <a:t>systematic-debugging　有系統地查 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4707" y="3282982"/>
            <a:ext cx="3742134" cy="213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28">
                <a:solidFill>
                  <a:srgbClr val="1B2A38"/>
                </a:solidFill>
                <a:latin typeface="Microsoft JhengHei"/>
              </a:rPr>
              <a:t>verification-before-completion　完成前強制驗證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09" y="4255937"/>
            <a:ext cx="12937093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 dirty="0" err="1">
                <a:solidFill>
                  <a:srgbClr val="1B2A38"/>
                </a:solidFill>
                <a:latin typeface="Microsoft JhengHei"/>
              </a:rPr>
              <a:t>實際成果：Mars</a:t>
            </a:r>
            <a:r>
              <a:rPr sz="1637" b="1" dirty="0">
                <a:solidFill>
                  <a:srgbClr val="1B2A38"/>
                </a:solidFill>
                <a:latin typeface="Microsoft JhengHei"/>
              </a:rPr>
              <a:t> 的 4 </a:t>
            </a:r>
            <a:r>
              <a:rPr sz="1637" b="1" dirty="0" err="1">
                <a:solidFill>
                  <a:srgbClr val="1B2A38"/>
                </a:solidFill>
                <a:latin typeface="Microsoft JhengHei"/>
              </a:rPr>
              <a:t>次重大改版，都是走這套流程</a:t>
            </a:r>
            <a:endParaRPr sz="1637" b="1" dirty="0">
              <a:solidFill>
                <a:srgbClr val="1B2A38"/>
              </a:solidFill>
              <a:latin typeface="Microsoft Jheng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509" y="4758452"/>
            <a:ext cx="2138363" cy="4454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4" name="Rounded Rectangle 23"/>
          <p:cNvSpPr/>
          <p:nvPr/>
        </p:nvSpPr>
        <p:spPr>
          <a:xfrm>
            <a:off x="641509" y="5079206"/>
            <a:ext cx="12969169" cy="1977985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TextBox 24"/>
          <p:cNvSpPr txBox="1"/>
          <p:nvPr/>
        </p:nvSpPr>
        <p:spPr>
          <a:xfrm>
            <a:off x="1015722" y="5325118"/>
            <a:ext cx="12295584" cy="152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4000"/>
              </a:lnSpc>
            </a:pPr>
            <a:r>
              <a:rPr sz="1286" b="1">
                <a:solidFill>
                  <a:srgbClr val="CCCCCC"/>
                </a:solidFill>
                <a:latin typeface="Microsoft JhengHei"/>
              </a:rPr>
              <a:t>Mars_csharp/docs/superpowers/</a:t>
            </a:r>
          </a:p>
          <a:p>
            <a:pPr>
              <a:lnSpc>
                <a:spcPct val="134000"/>
              </a:lnSpc>
            </a:pPr>
            <a:endParaRPr sz="1286" b="1">
              <a:solidFill>
                <a:srgbClr val="CCCCCC"/>
              </a:solidFill>
              <a:latin typeface="Microsoft JhengHei"/>
            </a:endParaRPr>
          </a:p>
          <a:p>
            <a:pPr>
              <a:lnSpc>
                <a:spcPct val="134000"/>
              </a:lnSpc>
            </a:pPr>
            <a:r>
              <a:rPr sz="1228">
                <a:solidFill>
                  <a:srgbClr val="9CDCFE"/>
                </a:solidFill>
                <a:latin typeface="Consolas"/>
              </a:rPr>
              <a:t>specs/   2026-07-20-sfis-builder-port-design.md      ← 設計文件（談出來的）</a:t>
            </a:r>
          </a:p>
          <a:p>
            <a:pPr>
              <a:lnSpc>
                <a:spcPct val="134000"/>
              </a:lnSpc>
            </a:pPr>
            <a:r>
              <a:rPr sz="1228">
                <a:solidFill>
                  <a:srgbClr val="9CDCFE"/>
                </a:solidFill>
                <a:latin typeface="Consolas"/>
              </a:rPr>
              <a:t>         2026-07-28-project-layer-refactor-design.md</a:t>
            </a:r>
          </a:p>
          <a:p>
            <a:pPr>
              <a:lnSpc>
                <a:spcPct val="134000"/>
              </a:lnSpc>
            </a:pPr>
            <a:r>
              <a:rPr sz="1228">
                <a:solidFill>
                  <a:srgbClr val="7ED3C5"/>
                </a:solidFill>
                <a:latin typeface="Consolas"/>
              </a:rPr>
              <a:t>plans/   2026-07-29-v351-align-A-layer.md            ← 執行計畫（拆好的步驟）</a:t>
            </a:r>
          </a:p>
          <a:p>
            <a:pPr>
              <a:lnSpc>
                <a:spcPct val="134000"/>
              </a:lnSpc>
            </a:pPr>
            <a:r>
              <a:rPr sz="1228">
                <a:solidFill>
                  <a:srgbClr val="7ED3C5"/>
                </a:solidFill>
                <a:latin typeface="Consolas"/>
              </a:rPr>
              <a:t>         2026-07-29-v351-align-B-layer.md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Skill = 把「怎麼做才對」固化下來 — 不靠人記得，每次都照標準走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一個 Skill 長什麼樣？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就是一個純文字檔 —— 工程師自己 5 分鐘就能寫一個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443990"/>
            <a:ext cx="7484269" cy="5345906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443990"/>
            <a:ext cx="7484269" cy="406289"/>
          </a:xfrm>
          <a:prstGeom prst="rect">
            <a:avLst/>
          </a:prstGeom>
          <a:solidFill>
            <a:srgbClr val="3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908804" y="1508141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DDDDDD"/>
                </a:solidFill>
                <a:latin typeface="Consolas"/>
              </a:rPr>
              <a:t>.claude/skills/release-note/SKILL.md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63" y="1978581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888888"/>
                </a:solidFill>
                <a:latin typeface="Consolas"/>
              </a:rPr>
              <a:t>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263" y="2251222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9CDCFE"/>
                </a:solidFill>
                <a:latin typeface="Consolas"/>
              </a:rPr>
              <a:t>name: release-note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263" y="2523863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CE9178"/>
                </a:solidFill>
                <a:latin typeface="Consolas"/>
              </a:rPr>
              <a:t>description: 產生進版發行說明。當使用者說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263" y="2796504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CE9178"/>
                </a:solidFill>
                <a:latin typeface="Consolas"/>
              </a:rPr>
              <a:t>  『要進版了』『出 release note』時使用。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263" y="3069145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888888"/>
                </a:solidFill>
                <a:latin typeface="Consolas"/>
              </a:rPr>
              <a:t>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263" y="3614428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69CD6"/>
                </a:solidFill>
                <a:latin typeface="Consolas"/>
              </a:rPr>
              <a:t># 進版發行說明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263" y="4159710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4EC9B0"/>
                </a:solidFill>
                <a:latin typeface="Consolas"/>
              </a:rPr>
              <a:t>## 執行步驟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263" y="4432351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DDDDDD"/>
                </a:solidFill>
                <a:latin typeface="Consolas"/>
              </a:rPr>
              <a:t>1. git log 取出上一版之後的所有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263" y="4704993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DDDDDD"/>
                </a:solidFill>
                <a:latin typeface="Consolas"/>
              </a:rPr>
              <a:t>2. 依 feat / fix / docs 分類整理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263" y="4977634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DDDDDD"/>
                </a:solidFill>
                <a:latin typeface="Consolas"/>
              </a:rPr>
              <a:t>3. 檢查 DebugMode 是否為 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263" y="5250275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DDDDDD"/>
                </a:solidFill>
                <a:latin typeface="Consolas"/>
              </a:rPr>
              <a:t>4. 確認版本號 3 處都已更新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263" y="5522916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DDDDDD"/>
                </a:solidFill>
                <a:latin typeface="Consolas"/>
              </a:rPr>
              <a:t>5. 寫進 CHANGELOG.md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263" y="6068199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4EC9B0"/>
                </a:solidFill>
                <a:latin typeface="Consolas"/>
              </a:rPr>
              <a:t>## 注意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263" y="6340840"/>
            <a:ext cx="6949678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F4B86E"/>
                </a:solidFill>
                <a:latin typeface="Consolas"/>
              </a:rPr>
              <a:t>- 進版前務必確認 MD5 驗證已啟用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3450" y="1497449"/>
            <a:ext cx="5132070" cy="26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54" b="1">
                <a:solidFill>
                  <a:srgbClr val="1E6FD9"/>
                </a:solidFill>
                <a:latin typeface="Microsoft JhengHei"/>
              </a:rPr>
              <a:t>三個組成部分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53450" y="2085499"/>
            <a:ext cx="5057227" cy="133647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TextBox 24"/>
          <p:cNvSpPr txBox="1"/>
          <p:nvPr/>
        </p:nvSpPr>
        <p:spPr>
          <a:xfrm>
            <a:off x="8852820" y="2245876"/>
            <a:ext cx="449056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 b="1">
                <a:solidFill>
                  <a:srgbClr val="0E9C8A"/>
                </a:solidFill>
                <a:latin typeface="Microsoft JhengHei"/>
              </a:rPr>
              <a:t>① name　指令名稱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2820" y="2620089"/>
            <a:ext cx="4490561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打 /release-note 就會觸發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53450" y="3582352"/>
            <a:ext cx="5057227" cy="133647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8" name="TextBox 27"/>
          <p:cNvSpPr txBox="1"/>
          <p:nvPr/>
        </p:nvSpPr>
        <p:spPr>
          <a:xfrm>
            <a:off x="8852820" y="3742729"/>
            <a:ext cx="449056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 b="1">
                <a:solidFill>
                  <a:srgbClr val="0E9C8A"/>
                </a:solidFill>
                <a:latin typeface="Microsoft JhengHei"/>
              </a:rPr>
              <a:t>② description　什麼時候用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2820" y="4116943"/>
            <a:ext cx="4490561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讓 AI 聽懂人話自動判斷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2820" y="4394930"/>
            <a:ext cx="4490561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不是關鍵字比對，是語意理解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3450" y="5079206"/>
            <a:ext cx="5057227" cy="133647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2" name="TextBox 31"/>
          <p:cNvSpPr txBox="1"/>
          <p:nvPr/>
        </p:nvSpPr>
        <p:spPr>
          <a:xfrm>
            <a:off x="8852820" y="5239583"/>
            <a:ext cx="449056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 b="1">
                <a:solidFill>
                  <a:srgbClr val="0E9C8A"/>
                </a:solidFill>
                <a:latin typeface="Microsoft JhengHei"/>
              </a:rPr>
              <a:t>③ 正文　怎麼做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2820" y="5613797"/>
            <a:ext cx="4490561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實際要執行的步驟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2820" y="5891784"/>
            <a:ext cx="4490561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寫得越清楚，做得越一致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53450" y="6576060"/>
            <a:ext cx="5057227" cy="534591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6" name="TextBox 35"/>
          <p:cNvSpPr txBox="1"/>
          <p:nvPr/>
        </p:nvSpPr>
        <p:spPr>
          <a:xfrm>
            <a:off x="8852820" y="6715054"/>
            <a:ext cx="4490561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 b="1">
                <a:solidFill>
                  <a:srgbClr val="0E9C8A"/>
                </a:solidFill>
                <a:latin typeface="Microsoft JhengHei"/>
              </a:rPr>
              <a:t>沒有程式、沒有設定 —— 純文字檔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TextBox 37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團隊每個人都能寫、能共用 — 好做法一次寫下，全隊照著走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特有功能②：網頁版做不到的其他事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這些都是我實際在用的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497449"/>
            <a:ext cx="6340245" cy="24805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497449"/>
            <a:ext cx="6340245" cy="5939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962263" y="1796820"/>
            <a:ext cx="5666661" cy="287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71" b="1">
                <a:solidFill>
                  <a:srgbClr val="1E6FD9"/>
                </a:solidFill>
                <a:latin typeface="Microsoft JhengHei"/>
              </a:rPr>
              <a:t>平行分派子任務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63" y="2331411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遇到大範圍搜尋，它會同時派出多個子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263" y="2652166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各自負責一塊，最後彙整結果回來。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63" y="3122604"/>
            <a:ext cx="5666661" cy="14850"/>
          </a:xfrm>
          <a:prstGeom prst="rect">
            <a:avLst/>
          </a:prstGeom>
          <a:solidFill>
            <a:srgbClr val="E0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962263" y="3336442"/>
            <a:ext cx="5773579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 b="1">
                <a:solidFill>
                  <a:srgbClr val="1E6FD9"/>
                </a:solidFill>
                <a:latin typeface="Microsoft JhengHei"/>
              </a:rPr>
              <a:t>一次做完原本要問很多輪的事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0432" y="1497449"/>
            <a:ext cx="6340245" cy="24805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Rectangle 13"/>
          <p:cNvSpPr/>
          <p:nvPr/>
        </p:nvSpPr>
        <p:spPr>
          <a:xfrm>
            <a:off x="7270432" y="1497449"/>
            <a:ext cx="6340245" cy="59399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5" name="TextBox 14"/>
          <p:cNvSpPr txBox="1"/>
          <p:nvPr/>
        </p:nvSpPr>
        <p:spPr>
          <a:xfrm>
            <a:off x="7591187" y="1796820"/>
            <a:ext cx="5666661" cy="287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71" b="1">
                <a:solidFill>
                  <a:srgbClr val="E87A2B"/>
                </a:solidFill>
                <a:latin typeface="Microsoft JhengHei"/>
              </a:rPr>
              <a:t>直接操作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1187" y="2331411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查歷史、看誰改的、比對版本差異、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1187" y="2652166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建立分支、commit —— 都不用切出去做。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91187" y="3122604"/>
            <a:ext cx="5666661" cy="14850"/>
          </a:xfrm>
          <a:prstGeom prst="rect">
            <a:avLst/>
          </a:prstGeom>
          <a:solidFill>
            <a:srgbClr val="E0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TextBox 18"/>
          <p:cNvSpPr txBox="1"/>
          <p:nvPr/>
        </p:nvSpPr>
        <p:spPr>
          <a:xfrm>
            <a:off x="7591187" y="3336442"/>
            <a:ext cx="5773579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 b="1">
                <a:solidFill>
                  <a:srgbClr val="E87A2B"/>
                </a:solidFill>
                <a:latin typeface="Microsoft JhengHei"/>
              </a:rPr>
              <a:t>「這行為什麼這樣寫」它自己去翻紀錄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509" y="4223861"/>
            <a:ext cx="6340245" cy="24805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1" name="Rectangle 20"/>
          <p:cNvSpPr/>
          <p:nvPr/>
        </p:nvSpPr>
        <p:spPr>
          <a:xfrm>
            <a:off x="641509" y="4223861"/>
            <a:ext cx="6340245" cy="5939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TextBox 21"/>
          <p:cNvSpPr txBox="1"/>
          <p:nvPr/>
        </p:nvSpPr>
        <p:spPr>
          <a:xfrm>
            <a:off x="962263" y="4523233"/>
            <a:ext cx="5666661" cy="287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71" b="1">
                <a:solidFill>
                  <a:srgbClr val="C0392B"/>
                </a:solidFill>
                <a:latin typeface="Microsoft JhengHei"/>
              </a:rPr>
              <a:t>執行指令與測試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263" y="5057823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編譯、跑測試、執行程式、讀取輸出，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263" y="5378578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失敗了自己看錯誤訊息回頭修。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263" y="5849017"/>
            <a:ext cx="5666661" cy="14850"/>
          </a:xfrm>
          <a:prstGeom prst="rect">
            <a:avLst/>
          </a:prstGeom>
          <a:solidFill>
            <a:srgbClr val="E0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6" name="TextBox 25"/>
          <p:cNvSpPr txBox="1"/>
          <p:nvPr/>
        </p:nvSpPr>
        <p:spPr>
          <a:xfrm>
            <a:off x="962263" y="6062854"/>
            <a:ext cx="5773579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 b="1">
                <a:solidFill>
                  <a:srgbClr val="C0392B"/>
                </a:solidFill>
                <a:latin typeface="Microsoft JhengHei"/>
              </a:rPr>
              <a:t>Mars 全套件 172 項它自己跑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0432" y="4223861"/>
            <a:ext cx="6340245" cy="24805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8" name="Rectangle 27"/>
          <p:cNvSpPr/>
          <p:nvPr/>
        </p:nvSpPr>
        <p:spPr>
          <a:xfrm>
            <a:off x="7270432" y="4223861"/>
            <a:ext cx="6340245" cy="5939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7591187" y="4523233"/>
            <a:ext cx="5666661" cy="287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71" b="1">
                <a:solidFill>
                  <a:srgbClr val="0E9C8A"/>
                </a:solidFill>
                <a:latin typeface="Microsoft JhengHei"/>
              </a:rPr>
              <a:t>讀得到二進位內容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1187" y="5057823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設定檔的實際位元組、檔案編碼、BOM，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1187" y="5378578"/>
            <a:ext cx="5773579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3">
                <a:solidFill>
                  <a:srgbClr val="1B2A38"/>
                </a:solidFill>
                <a:latin typeface="Microsoft JhengHei"/>
              </a:rPr>
              <a:t>這些複製貼上會弄丟的東西它都看得到。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1187" y="5849017"/>
            <a:ext cx="5666661" cy="14850"/>
          </a:xfrm>
          <a:prstGeom prst="rect">
            <a:avLst/>
          </a:prstGeom>
          <a:solidFill>
            <a:srgbClr val="E0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TextBox 32"/>
          <p:cNvSpPr txBox="1"/>
          <p:nvPr/>
        </p:nvSpPr>
        <p:spPr>
          <a:xfrm>
            <a:off x="7591187" y="6062854"/>
            <a:ext cx="5773579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86" b="1">
                <a:solidFill>
                  <a:srgbClr val="0E9C8A"/>
                </a:solidFill>
                <a:latin typeface="Microsoft JhengHei"/>
              </a:rPr>
              <a:t>前面 ini 那個 bug 就是這樣抓到的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5" name="TextBox 34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>
                <a:solidFill>
                  <a:srgbClr val="0F2440"/>
                </a:solidFill>
                <a:latin typeface="Microsoft JhengHei"/>
              </a:rPr>
              <a:t>這些能力的共同點：都需要「待在專案裡」才做得到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5"/>
            <a:ext cx="14255393" cy="1090565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1" y="1091160"/>
            <a:ext cx="14255393" cy="4454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662893" y="193048"/>
            <a:ext cx="13044011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6" b="1">
                <a:solidFill>
                  <a:srgbClr val="FFFFFF"/>
                </a:solidFill>
                <a:latin typeface="Microsoft JhengHei"/>
              </a:rPr>
              <a:t>實際效益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893" y="695563"/>
            <a:ext cx="1304401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62">
                <a:solidFill>
                  <a:srgbClr val="A9C2E0"/>
                </a:solidFill>
                <a:latin typeface="Microsoft JhengHei"/>
              </a:rPr>
              <a:t>以這段期間的 Mars / Octavia 工作為例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509" y="1518833"/>
            <a:ext cx="3122009" cy="20849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Rectangle 6"/>
          <p:cNvSpPr/>
          <p:nvPr/>
        </p:nvSpPr>
        <p:spPr>
          <a:xfrm>
            <a:off x="641509" y="1518833"/>
            <a:ext cx="3122009" cy="5939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908804" y="1839587"/>
            <a:ext cx="2672953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0E9C8A"/>
                </a:solidFill>
                <a:latin typeface="Microsoft JhengHei"/>
              </a:rPr>
              <a:t>不用再複製貼上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804" y="2406253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程式碼、錯誤訊息、設定檔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804" y="2727007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都不需要手動搬運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5279" y="1518833"/>
            <a:ext cx="3122009" cy="20849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Rectangle 11"/>
          <p:cNvSpPr/>
          <p:nvPr/>
        </p:nvSpPr>
        <p:spPr>
          <a:xfrm>
            <a:off x="3945279" y="1518833"/>
            <a:ext cx="3122009" cy="59399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3" name="TextBox 12"/>
          <p:cNvSpPr txBox="1"/>
          <p:nvPr/>
        </p:nvSpPr>
        <p:spPr>
          <a:xfrm>
            <a:off x="4212574" y="1839587"/>
            <a:ext cx="2672953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0E9C8A"/>
                </a:solidFill>
                <a:latin typeface="Microsoft JhengHei"/>
              </a:rPr>
              <a:t>改動有測試把關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2574" y="2406253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172 項自動化測試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2574" y="2727007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改壞了馬上知道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49049" y="1518833"/>
            <a:ext cx="3122009" cy="20849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7" name="Rectangle 16"/>
          <p:cNvSpPr/>
          <p:nvPr/>
        </p:nvSpPr>
        <p:spPr>
          <a:xfrm>
            <a:off x="7249049" y="1518833"/>
            <a:ext cx="3122009" cy="5939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8" name="TextBox 17"/>
          <p:cNvSpPr txBox="1"/>
          <p:nvPr/>
        </p:nvSpPr>
        <p:spPr>
          <a:xfrm>
            <a:off x="7516344" y="1839587"/>
            <a:ext cx="2672953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1E6FD9"/>
                </a:solidFill>
                <a:latin typeface="Microsoft JhengHei"/>
              </a:rPr>
              <a:t>文件跟著程式走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44" y="2406253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程式改了文件一起更新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44" y="2727007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不會各說各話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52819" y="1518833"/>
            <a:ext cx="3122009" cy="20849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Rectangle 21"/>
          <p:cNvSpPr/>
          <p:nvPr/>
        </p:nvSpPr>
        <p:spPr>
          <a:xfrm>
            <a:off x="10552819" y="1518833"/>
            <a:ext cx="3122009" cy="5939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10820114" y="1839587"/>
            <a:ext cx="2672953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37" b="1">
                <a:solidFill>
                  <a:srgbClr val="1E6FD9"/>
                </a:solidFill>
                <a:latin typeface="Microsoft JhengHei"/>
              </a:rPr>
              <a:t>問題查得更深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114" y="2406253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位元組層級、跨檔案影響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114" y="2727007"/>
            <a:ext cx="2672953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8">
                <a:solidFill>
                  <a:srgbClr val="5A6B7B"/>
                </a:solidFill>
                <a:latin typeface="Microsoft JhengHei"/>
              </a:rPr>
              <a:t>人工不會去查的地方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09" y="3903107"/>
            <a:ext cx="12937093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88" b="1">
                <a:solidFill>
                  <a:srgbClr val="1B2A38"/>
                </a:solidFill>
                <a:latin typeface="Microsoft JhengHei"/>
              </a:rPr>
              <a:t>更重要的是：工作性質改變了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509" y="4437698"/>
            <a:ext cx="2138363" cy="5197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8" name="Rounded Rectangle 27"/>
          <p:cNvSpPr/>
          <p:nvPr/>
        </p:nvSpPr>
        <p:spPr>
          <a:xfrm>
            <a:off x="641509" y="4811911"/>
            <a:ext cx="6308169" cy="1603772"/>
          </a:xfrm>
          <a:prstGeom prst="roundRect">
            <a:avLst>
              <a:gd name="adj" fmla="val 5000"/>
            </a:avLst>
          </a:prstGeom>
          <a:solidFill>
            <a:srgbClr val="FA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962263" y="5079207"/>
            <a:ext cx="5666661" cy="824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62" b="1">
                <a:solidFill>
                  <a:srgbClr val="E87A2B"/>
                </a:solidFill>
                <a:latin typeface="Microsoft JhengHei"/>
              </a:rPr>
              <a:t>以前</a:t>
            </a:r>
          </a:p>
          <a:p>
            <a:pPr>
              <a:lnSpc>
                <a:spcPct val="130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大量時間花在打字、查語法、</a:t>
            </a:r>
          </a:p>
          <a:p>
            <a:pPr>
              <a:lnSpc>
                <a:spcPct val="130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複製貼上、重複的例行修改。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23891" y="4811911"/>
            <a:ext cx="6286786" cy="1603772"/>
          </a:xfrm>
          <a:prstGeom prst="roundRect">
            <a:avLst>
              <a:gd name="adj" fmla="val 5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7644646" y="5079207"/>
            <a:ext cx="5666661" cy="824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62" b="1">
                <a:solidFill>
                  <a:srgbClr val="0E9C8A"/>
                </a:solidFill>
                <a:latin typeface="Microsoft JhengHei"/>
              </a:rPr>
              <a:t>現在</a:t>
            </a:r>
          </a:p>
          <a:p>
            <a:pPr>
              <a:lnSpc>
                <a:spcPct val="130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時間花在判斷方向、確認結果、</a:t>
            </a:r>
          </a:p>
          <a:p>
            <a:pPr>
              <a:lnSpc>
                <a:spcPct val="130000"/>
              </a:lnSpc>
            </a:pPr>
            <a:r>
              <a:rPr sz="1403">
                <a:solidFill>
                  <a:srgbClr val="1B2A38"/>
                </a:solidFill>
                <a:latin typeface="Microsoft JhengHei"/>
              </a:rPr>
              <a:t>決定什麼該做什麼不該做。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" y="7292412"/>
            <a:ext cx="14255393" cy="727043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TextBox 32"/>
          <p:cNvSpPr txBox="1"/>
          <p:nvPr/>
        </p:nvSpPr>
        <p:spPr>
          <a:xfrm>
            <a:off x="662893" y="7559472"/>
            <a:ext cx="12188666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62" b="1" dirty="0" err="1">
                <a:solidFill>
                  <a:srgbClr val="0F2440"/>
                </a:solidFill>
                <a:latin typeface="Microsoft JhengHei"/>
              </a:rPr>
              <a:t>省下的不只是打字時間</a:t>
            </a:r>
            <a:r>
              <a:rPr sz="1462" b="1" dirty="0">
                <a:solidFill>
                  <a:srgbClr val="0F2440"/>
                </a:solidFill>
                <a:latin typeface="Microsoft JhengHei"/>
              </a:rPr>
              <a:t> — </a:t>
            </a:r>
            <a:r>
              <a:rPr sz="1462" b="1" dirty="0" err="1">
                <a:solidFill>
                  <a:srgbClr val="0F2440"/>
                </a:solidFill>
                <a:latin typeface="Microsoft JhengHei"/>
              </a:rPr>
              <a:t>是「反覆解釋背景」與「來回驗證」的時間</a:t>
            </a:r>
            <a:endParaRPr sz="1462" b="1" dirty="0">
              <a:solidFill>
                <a:srgbClr val="0F2440"/>
              </a:solidFill>
              <a:latin typeface="Microsoft Jheng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150929" y="7573033"/>
            <a:ext cx="534591" cy="197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86">
                <a:solidFill>
                  <a:srgbClr val="5A6B7B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96"/>
            <a:ext cx="14255393" cy="8018859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Rectangle 2"/>
          <p:cNvSpPr/>
          <p:nvPr/>
        </p:nvSpPr>
        <p:spPr>
          <a:xfrm>
            <a:off x="0" y="596"/>
            <a:ext cx="235220" cy="801885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" name="TextBox 3"/>
          <p:cNvSpPr txBox="1"/>
          <p:nvPr/>
        </p:nvSpPr>
        <p:spPr>
          <a:xfrm>
            <a:off x="1176099" y="1016317"/>
            <a:ext cx="11760994" cy="26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54" b="1">
                <a:solidFill>
                  <a:srgbClr val="7CA8DC"/>
                </a:solidFill>
                <a:latin typeface="Microsoft JhengHei"/>
              </a:rPr>
              <a:t>如果你想試試看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6100" y="1604367"/>
            <a:ext cx="1924526" cy="5197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Rounded Rectangle 5"/>
          <p:cNvSpPr/>
          <p:nvPr/>
        </p:nvSpPr>
        <p:spPr>
          <a:xfrm>
            <a:off x="1176099" y="2138958"/>
            <a:ext cx="449056" cy="449056"/>
          </a:xfrm>
          <a:prstGeom prst="roundRect">
            <a:avLst>
              <a:gd name="adj" fmla="val 50000"/>
            </a:avLst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" name="TextBox 6"/>
          <p:cNvSpPr txBox="1"/>
          <p:nvPr/>
        </p:nvSpPr>
        <p:spPr>
          <a:xfrm>
            <a:off x="1176099" y="2203109"/>
            <a:ext cx="449056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37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1067" y="2149650"/>
            <a:ext cx="11226403" cy="278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12" b="1">
                <a:solidFill>
                  <a:srgbClr val="FFFFFF"/>
                </a:solidFill>
                <a:latin typeface="Microsoft JhengHei"/>
              </a:rPr>
              <a:t>先裝起來用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1067" y="2588014"/>
            <a:ext cx="11333321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A9C2E0"/>
                </a:solidFill>
                <a:latin typeface="Microsoft JhengHei"/>
              </a:rPr>
              <a:t>在 VS Code 裝外掛，用現有專案開起來就能問，不用先學什麼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6099" y="3154680"/>
            <a:ext cx="449056" cy="449056"/>
          </a:xfrm>
          <a:prstGeom prst="roundRect">
            <a:avLst>
              <a:gd name="adj" fmla="val 50000"/>
            </a:avLst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TextBox 10"/>
          <p:cNvSpPr txBox="1"/>
          <p:nvPr/>
        </p:nvSpPr>
        <p:spPr>
          <a:xfrm>
            <a:off x="1176099" y="3218831"/>
            <a:ext cx="449056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37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1067" y="3165372"/>
            <a:ext cx="11226403" cy="278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12" b="1">
                <a:solidFill>
                  <a:srgbClr val="FFFFFF"/>
                </a:solidFill>
                <a:latin typeface="Microsoft JhengHei"/>
              </a:rPr>
              <a:t>從「查問題」開始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1067" y="3603736"/>
            <a:ext cx="11333321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A9C2E0"/>
                </a:solidFill>
                <a:latin typeface="Microsoft JhengHei"/>
              </a:rPr>
              <a:t>先請它幫你找一個你已經知道答案的 bug，看它怎麼查、判斷它靠不靠譜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6099" y="4170402"/>
            <a:ext cx="449056" cy="449056"/>
          </a:xfrm>
          <a:prstGeom prst="roundRect">
            <a:avLst>
              <a:gd name="adj" fmla="val 50000"/>
            </a:avLst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5" name="TextBox 14"/>
          <p:cNvSpPr txBox="1"/>
          <p:nvPr/>
        </p:nvSpPr>
        <p:spPr>
          <a:xfrm>
            <a:off x="1176099" y="4234553"/>
            <a:ext cx="449056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37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1067" y="4181094"/>
            <a:ext cx="11226403" cy="278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12" b="1">
                <a:solidFill>
                  <a:srgbClr val="FFFFFF"/>
                </a:solidFill>
                <a:latin typeface="Microsoft JhengHei"/>
              </a:rPr>
              <a:t>重要改動要求它驗證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1067" y="4619458"/>
            <a:ext cx="11333321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A9C2E0"/>
                </a:solidFill>
                <a:latin typeface="Microsoft JhengHei"/>
              </a:rPr>
              <a:t>「改完跑測試給我看」—— 養成這個習慣，品質差很多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6099" y="5186124"/>
            <a:ext cx="449056" cy="449056"/>
          </a:xfrm>
          <a:prstGeom prst="roundRect">
            <a:avLst>
              <a:gd name="adj" fmla="val 50000"/>
            </a:avLst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TextBox 18"/>
          <p:cNvSpPr txBox="1"/>
          <p:nvPr/>
        </p:nvSpPr>
        <p:spPr>
          <a:xfrm>
            <a:off x="1176099" y="5250275"/>
            <a:ext cx="449056" cy="251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37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1067" y="5196817"/>
            <a:ext cx="11226403" cy="278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12" b="1">
                <a:solidFill>
                  <a:srgbClr val="FFFFFF"/>
                </a:solidFill>
                <a:latin typeface="Microsoft JhengHei"/>
              </a:rPr>
              <a:t>把重複的事寫成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1067" y="5635180"/>
            <a:ext cx="11333321" cy="206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45">
                <a:solidFill>
                  <a:srgbClr val="A9C2E0"/>
                </a:solidFill>
                <a:latin typeface="Microsoft JhengHei"/>
              </a:rPr>
              <a:t>同樣的流程做第三次，就該把它固化下來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6099" y="6469142"/>
            <a:ext cx="11974830" cy="29699"/>
          </a:xfrm>
          <a:prstGeom prst="rect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1176099" y="6789896"/>
            <a:ext cx="1197483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88" b="1">
                <a:solidFill>
                  <a:srgbClr val="FFFFFF"/>
                </a:solidFill>
                <a:latin typeface="Microsoft JhengHei"/>
              </a:rPr>
              <a:t>差別不是「AI 比較聰明」，而是「AI 站在你的專案裡面，看得到全貌」。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10401</TotalTime>
  <Words>1569</Words>
  <Application>Microsoft Office PowerPoint</Application>
  <PresentationFormat>自訂</PresentationFormat>
  <Paragraphs>381</Paragraphs>
  <Slides>17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17</vt:i4>
      </vt:variant>
    </vt:vector>
  </HeadingPairs>
  <TitlesOfParts>
    <vt:vector size="29" baseType="lpstr">
      <vt:lpstr>Heiti TC Light</vt:lpstr>
      <vt:lpstr>Microsoft JhengHei</vt:lpstr>
      <vt:lpstr>Arial</vt:lpstr>
      <vt:lpstr>Calibri</vt:lpstr>
      <vt:lpstr>Calibri Light</vt:lpstr>
      <vt:lpstr>Consolas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WK32 </vt:lpstr>
      <vt:lpstr>Status report</vt:lpstr>
      <vt:lpstr>Status report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558</cp:revision>
  <dcterms:created xsi:type="dcterms:W3CDTF">2020-05-05T05:12:04Z</dcterms:created>
  <dcterms:modified xsi:type="dcterms:W3CDTF">2026-08-07T02:34:32Z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