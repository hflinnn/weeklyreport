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70" r:id="rId4"/>
    <p:sldId id="257" r:id="rId5"/>
    <p:sldId id="258" r:id="rId6"/>
    <p:sldId id="259" r:id="rId7"/>
    <p:sldId id="260" r:id="rId8"/>
    <p:sldId id="261" r:id="rId9"/>
    <p:sldId id="264" r:id="rId10"/>
    <p:sldId id="265" r:id="rId11"/>
    <p:sldId id="266" r:id="rId12"/>
    <p:sldId id="262" r:id="rId13"/>
    <p:sldId id="263" r:id="rId14"/>
    <p:sldId id="267" r:id="rId15"/>
    <p:sldId id="268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665" autoAdjust="0"/>
  </p:normalViewPr>
  <p:slideViewPr>
    <p:cSldViewPr snapToGrid="0" snapToObjects="1">
      <p:cViewPr varScale="1">
        <p:scale>
          <a:sx n="100" d="100"/>
          <a:sy n="100" d="100"/>
        </p:scale>
        <p:origin x="9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9144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14800"/>
            <a:ext cx="12191695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Microsoft JhengHei"/>
              </a:rPr>
              <a:t>SmartQC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EAF1FB"/>
                </a:solidFill>
                <a:latin typeface="Microsoft JhengHei"/>
              </a:rPr>
              <a:t>AI 生產瑕疵偵測 + 自動報告系統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67E22"/>
                </a:solidFill>
                <a:latin typeface="Microsoft JhengHei"/>
              </a:rPr>
              <a:t>技術架構 × 商業效益 提案報告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327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EAF1FB"/>
                </a:solidFill>
                <a:latin typeface="Microsoft JhengHei"/>
              </a:rPr>
              <a:t>Python · Flask · Claude Vision API   |   2026-0</a:t>
            </a:r>
            <a:r>
              <a:rPr lang="en-US" sz="1400" b="0" dirty="0">
                <a:solidFill>
                  <a:srgbClr val="EAF1FB"/>
                </a:solidFill>
                <a:latin typeface="Microsoft JhengHei"/>
              </a:rPr>
              <a:t>7</a:t>
            </a:r>
            <a:r>
              <a:rPr sz="1400" b="0" dirty="0">
                <a:solidFill>
                  <a:srgbClr val="EAF1FB"/>
                </a:solidFill>
                <a:latin typeface="Microsoft JhengHei"/>
              </a:rPr>
              <a:t>-</a:t>
            </a:r>
            <a:r>
              <a:rPr lang="en-US" sz="1400" b="0" dirty="0">
                <a:solidFill>
                  <a:srgbClr val="EAF1FB"/>
                </a:solidFill>
                <a:latin typeface="Microsoft JhengHei"/>
              </a:rPr>
              <a:t>03</a:t>
            </a:r>
            <a:endParaRPr sz="1400" b="0" dirty="0">
              <a:solidFill>
                <a:srgbClr val="EAF1FB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dirty="0" err="1">
                <a:solidFill>
                  <a:srgbClr val="FFFFFF"/>
                </a:solidFill>
                <a:latin typeface="Microsoft JhengHei"/>
              </a:rPr>
              <a:t>設計演進：被這些問題逐一檢驗</a:t>
            </a:r>
            <a:r>
              <a:rPr sz="2600" b="1" dirty="0">
                <a:solidFill>
                  <a:srgbClr val="FFFFFF"/>
                </a:solidFill>
                <a:latin typeface="Microsoft JhengHei"/>
              </a:rPr>
              <a:t>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64008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16152"/>
            <a:ext cx="10332720" cy="713232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icrosoft JhengHei"/>
              </a:rPr>
              <a:t>設計一套自動 QC 的程式。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47672"/>
            <a:ext cx="64008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24417"/>
            <a:ext cx="103327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API </a:t>
            </a:r>
            <a:r>
              <a:rPr sz="15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費用怎麼把關？高解析度照片</a:t>
            </a:r>
            <a:r>
              <a:rPr lang="zh-TW" altLang="en-US" sz="15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會很耗</a:t>
            </a:r>
            <a:r>
              <a:rPr lang="en-US" altLang="zh-TW" sz="15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token</a:t>
            </a:r>
            <a:r>
              <a:rPr lang="zh-TW" altLang="en-US" sz="15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嗎？  </a:t>
            </a:r>
            <a:r>
              <a:rPr lang="en-US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縮圖</a:t>
            </a:r>
            <a:r>
              <a:rPr lang="zh-TW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補上 preprocess_image() + 成本控制</a:t>
            </a:r>
            <a:r>
              <a:rPr lang="en-US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sz="1400" b="0" i="1" dirty="0">
              <a:solidFill>
                <a:srgbClr val="00B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2660904"/>
            <a:ext cx="64008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37649"/>
            <a:ext cx="10332720" cy="323165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sz="1500" b="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 </a:t>
            </a:r>
            <a:r>
              <a:rPr sz="1500" b="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如果判錯呢</a:t>
            </a:r>
            <a:r>
              <a:rPr sz="1500" b="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？</a:t>
            </a:r>
            <a:r>
              <a:rPr lang="zh-TW" altLang="en-US" sz="1500" b="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</a:t>
            </a:r>
            <a:r>
              <a:rPr sz="1500" b="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把不良品判成良品流出去</a:t>
            </a:r>
            <a:r>
              <a:rPr lang="zh-TW" altLang="en-US" sz="1500" b="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嗎</a:t>
            </a:r>
            <a:r>
              <a:rPr lang="zh-TW" altLang="en-US" sz="15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？  </a:t>
            </a:r>
            <a:r>
              <a:rPr lang="zh-TW" altLang="en-US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need_review 覆核機制</a:t>
            </a:r>
            <a:r>
              <a:rPr lang="en-US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sz="1400" b="0" i="1" dirty="0">
              <a:solidFill>
                <a:srgbClr val="00B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3374136"/>
            <a:ext cx="64008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550881"/>
            <a:ext cx="103327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zh-TW" altLang="en-US" sz="15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判讀結果存哪？我要看歷史紀錄跟統計。 </a:t>
            </a:r>
            <a:r>
              <a:rPr lang="zh-TW" altLang="en-US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 SQLite 資料庫</a:t>
            </a:r>
            <a:r>
              <a:rPr lang="en-US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補上 database.py</a:t>
            </a:r>
            <a:r>
              <a:rPr lang="en-US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i="1" dirty="0">
              <a:solidFill>
                <a:srgbClr val="00B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4087368"/>
            <a:ext cx="64008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Q5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264113"/>
            <a:ext cx="10332720" cy="323165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zh-TW" altLang="en-US" sz="15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老闆每天要品質日報，要我手動整理嗎？</a:t>
            </a:r>
            <a:r>
              <a:rPr lang="zh-TW" altLang="en-US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補上自動報表 + email</a:t>
            </a:r>
            <a:r>
              <a:rPr lang="en-US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zh-TW" altLang="zh-TW" sz="1400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report.py</a:t>
            </a:r>
            <a:r>
              <a:rPr lang="en-US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dirty="0">
              <a:solidFill>
                <a:srgbClr val="00B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4800600"/>
            <a:ext cx="64008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Q6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77345"/>
            <a:ext cx="103327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zh-TW" altLang="en-US" sz="15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現場操作員不會打指令，他們怎麼用？ </a:t>
            </a:r>
            <a:r>
              <a:rPr lang="en-US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網頁介面</a:t>
            </a:r>
            <a:r>
              <a:rPr lang="zh-TW" altLang="en-US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Flask</a:t>
            </a:r>
            <a:r>
              <a:rPr lang="en-US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i="1" dirty="0">
              <a:solidFill>
                <a:srgbClr val="00B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5513832"/>
            <a:ext cx="64008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Q7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690577"/>
            <a:ext cx="10332720" cy="323165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zh-TW" altLang="en-US" sz="15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我們目標是無人工廠，會有機器自動拍照上傳，不是靠人。</a:t>
            </a:r>
            <a:r>
              <a:rPr lang="zh-TW" altLang="en-US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加入</a:t>
            </a:r>
            <a:r>
              <a:rPr lang="zh-TW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watcher</a:t>
            </a:r>
            <a:r>
              <a:rPr lang="en-US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i="1" dirty="0">
              <a:solidFill>
                <a:srgbClr val="00B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設計演進：被這些問題逐一檢驗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64008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Q8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1185"/>
            <a:ext cx="10332720" cy="323165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zh-TW" altLang="en-US" sz="15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萬一斷網、</a:t>
            </a:r>
            <a:r>
              <a:rPr lang="en-US" altLang="zh-TW" sz="15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15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掛了，產線會不會被卡住停掉？ </a:t>
            </a:r>
            <a:r>
              <a:rPr lang="en-US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補上離線不遺失 + 失敗歸檔</a:t>
            </a:r>
            <a:r>
              <a:rPr lang="en-US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i="1" dirty="0">
              <a:solidFill>
                <a:srgbClr val="00B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947672"/>
            <a:ext cx="64008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Q9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24416"/>
            <a:ext cx="103327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zh-TW" sz="15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API </a:t>
            </a:r>
            <a:r>
              <a:rPr lang="zh-TW" altLang="en-US" sz="15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金鑰你該不會寫在程式裡吧？上傳 </a:t>
            </a:r>
            <a:r>
              <a:rPr lang="en-US" altLang="zh-TW" sz="15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GitHub </a:t>
            </a:r>
            <a:r>
              <a:rPr lang="zh-TW" altLang="en-US" sz="15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不就外洩？ </a:t>
            </a:r>
            <a:r>
              <a:rPr lang="en-US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金鑰移到 .env 設定檔，用 .gitignore 讓它永遠不進版控</a:t>
            </a:r>
            <a:r>
              <a:rPr lang="en-US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i="1" dirty="0">
              <a:solidFill>
                <a:srgbClr val="00B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2660904"/>
            <a:ext cx="64008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Q10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37649"/>
            <a:ext cx="10332720" cy="323165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wrap="square" anchor="ctr">
            <a:spAutoFit/>
          </a:bodyPr>
          <a:lstStyle/>
          <a:p>
            <a:r>
              <a:rPr lang="zh-TW" altLang="en-US" sz="15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若產能擴大 </a:t>
            </a:r>
            <a:r>
              <a:rPr lang="en-US" altLang="zh-TW" sz="15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SQLite </a:t>
            </a:r>
            <a:r>
              <a:rPr lang="zh-TW" altLang="en-US" sz="15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會不會卡？以後怎麼擴充？  </a:t>
            </a:r>
            <a:r>
              <a:rPr lang="zh-TW" altLang="zh-TW" sz="1400" i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（補上模組化擴充路徑）</a:t>
            </a:r>
            <a:endParaRPr lang="zh-TW" altLang="en-US" sz="1400" dirty="0">
              <a:solidFill>
                <a:srgbClr val="00B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一頁總結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Microsoft JhengHei"/>
              </a:rPr>
              <a:t>Executive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9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項目</a:t>
                      </a:r>
                    </a:p>
                  </a:txBody>
                  <a:tcPr marL="73152" marT="18288" marB="18288" anchor="ctr"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結論</a:t>
                      </a:r>
                    </a:p>
                  </a:txBody>
                  <a:tcPr marL="73152" marT="18288" marB="18288" anchor="ctr">
                    <a:solidFill>
                      <a:srgbClr val="2E6D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要解決的問題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人工目檢成本高、會疲勞、漏檢；品質報表靠人工統計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方案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222222"/>
                          </a:solidFill>
                          <a:latin typeface="Microsoft JhengHei"/>
                        </a:rPr>
                        <a:t>AI </a:t>
                      </a:r>
                      <a:r>
                        <a:rPr sz="1200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自動判讀產品照片</a:t>
                      </a:r>
                      <a:r>
                        <a:rPr sz="1200" dirty="0">
                          <a:solidFill>
                            <a:srgbClr val="222222"/>
                          </a:solidFill>
                          <a:latin typeface="Microsoft JhengHei"/>
                        </a:rPr>
                        <a:t> OK/NG + </a:t>
                      </a:r>
                      <a:r>
                        <a:rPr sz="1200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每日自動產出品質報告</a:t>
                      </a:r>
                      <a:endParaRPr sz="1200" dirty="0">
                        <a:solidFill>
                          <a:srgbClr val="222222"/>
                        </a:solidFill>
                        <a:latin typeface="Microsoft JhengHei"/>
                      </a:endParaRP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技術棧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Python + Flask + Claude Vision API + SQLite（雲端 AI，免 GPU）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狀態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222222"/>
                          </a:solidFill>
                          <a:latin typeface="Microsoft JhengHei"/>
                        </a:rPr>
                        <a:t>✅ </a:t>
                      </a:r>
                      <a:r>
                        <a:rPr sz="1200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已完成可運行的</a:t>
                      </a:r>
                      <a:r>
                        <a:rPr sz="1200" dirty="0">
                          <a:solidFill>
                            <a:srgbClr val="222222"/>
                          </a:solidFill>
                          <a:latin typeface="Microsoft JhengHei"/>
                        </a:rPr>
                        <a:t> </a:t>
                      </a:r>
                      <a:r>
                        <a:rPr sz="1200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PoC，支援無人工廠自動吃圖</a:t>
                      </a:r>
                      <a:endParaRPr sz="1200" dirty="0">
                        <a:solidFill>
                          <a:srgbClr val="222222"/>
                        </a:solidFill>
                        <a:latin typeface="Microsoft JhengHei"/>
                      </a:endParaRP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47472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Microsoft JhengHei"/>
              </a:rPr>
              <a:t>關鍵數字（中型廠假設）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886200"/>
          <a:ext cx="1124711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2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2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2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29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54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建置成本</a:t>
                      </a:r>
                    </a:p>
                  </a:txBody>
                  <a:tcPr marL="73152" marT="18288" marB="18288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回本期</a:t>
                      </a:r>
                    </a:p>
                  </a:txBody>
                  <a:tcPr marL="73152" marT="18288" marB="18288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每月淨效益</a:t>
                      </a:r>
                    </a:p>
                  </a:txBody>
                  <a:tcPr marL="73152" marT="18288" marB="18288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上線時程</a:t>
                      </a:r>
                    </a:p>
                  </a:txBody>
                  <a:tcPr marL="73152" marT="18288" marB="18288"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可取代 QC</a:t>
                      </a:r>
                    </a:p>
                  </a:txBody>
                  <a:tcPr marL="73152" marT="18288" marB="18288"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約 NT$30 萬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約 6 個月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約 +NT$5 萬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6–10 週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約 60%（保留覆核）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Microsoft JhengHei"/>
              </a:rPr>
              <a:t>核心設計原則：AI 判讀 + 人工覆核雙保險；雲端 API 快速 PoC，量大可轉本地模型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系統架構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Microsoft JhengHei"/>
              </a:rPr>
              <a:t>分層設計，模組職責單一</a:t>
            </a:r>
          </a:p>
        </p:txBody>
      </p:sp>
      <p:pic>
        <p:nvPicPr>
          <p:cNvPr id="5" name="Picture 4" descr="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315200" cy="5005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18872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Microsoft JhengHei"/>
              </a:rPr>
              <a:t>設計重點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002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 dirty="0">
                <a:solidFill>
                  <a:srgbClr val="222222"/>
                </a:solidFill>
                <a:latin typeface="Microsoft JhengHei"/>
              </a:rPr>
              <a:t>•  Flask </a:t>
            </a:r>
            <a:r>
              <a:rPr sz="1400" b="0" dirty="0" err="1">
                <a:solidFill>
                  <a:srgbClr val="222222"/>
                </a:solidFill>
                <a:latin typeface="Microsoft JhengHei"/>
              </a:rPr>
              <a:t>單體應用，單機</a:t>
            </a:r>
            <a:r>
              <a:rPr sz="1400" b="0" dirty="0">
                <a:solidFill>
                  <a:srgbClr val="222222"/>
                </a:solidFill>
                <a:latin typeface="Microsoft JhengHei"/>
              </a:rPr>
              <a:t>/</a:t>
            </a:r>
            <a:r>
              <a:rPr sz="1400" b="0" dirty="0" err="1">
                <a:solidFill>
                  <a:srgbClr val="222222"/>
                </a:solidFill>
                <a:latin typeface="Microsoft JhengHei"/>
              </a:rPr>
              <a:t>小型</a:t>
            </a:r>
            <a:r>
              <a:rPr sz="1400" b="0" dirty="0">
                <a:solidFill>
                  <a:srgbClr val="222222"/>
                </a:solidFill>
                <a:latin typeface="Microsoft JhengHei"/>
              </a:rPr>
              <a:t> Server </a:t>
            </a:r>
            <a:r>
              <a:rPr sz="1400" b="0" dirty="0" err="1">
                <a:solidFill>
                  <a:srgbClr val="222222"/>
                </a:solidFill>
                <a:latin typeface="Microsoft JhengHei"/>
              </a:rPr>
              <a:t>可跑</a:t>
            </a:r>
            <a:endParaRPr sz="1400" b="0" dirty="0">
              <a:solidFill>
                <a:srgbClr val="222222"/>
              </a:solidFill>
              <a:latin typeface="Microsoft JhengHei"/>
            </a:endParaRPr>
          </a:p>
          <a:p>
            <a:pPr>
              <a:spcAft>
                <a:spcPts val="900"/>
              </a:spcAft>
            </a:pPr>
            <a:r>
              <a:rPr sz="1400" b="0" dirty="0">
                <a:solidFill>
                  <a:srgbClr val="222222"/>
                </a:solidFill>
                <a:latin typeface="Microsoft JhengHei"/>
              </a:rPr>
              <a:t>•  </a:t>
            </a:r>
            <a:r>
              <a:rPr sz="1400" b="0" dirty="0" err="1">
                <a:solidFill>
                  <a:srgbClr val="222222"/>
                </a:solidFill>
                <a:latin typeface="Microsoft JhengHei"/>
              </a:rPr>
              <a:t>模組分離：判讀</a:t>
            </a:r>
            <a:r>
              <a:rPr sz="1400" b="0" dirty="0">
                <a:solidFill>
                  <a:srgbClr val="222222"/>
                </a:solidFill>
                <a:latin typeface="Microsoft JhengHei"/>
              </a:rPr>
              <a:t> / </a:t>
            </a:r>
            <a:r>
              <a:rPr sz="1400" b="0" dirty="0" err="1">
                <a:solidFill>
                  <a:srgbClr val="222222"/>
                </a:solidFill>
                <a:latin typeface="Microsoft JhengHei"/>
              </a:rPr>
              <a:t>資料</a:t>
            </a:r>
            <a:r>
              <a:rPr sz="1400" b="0" dirty="0">
                <a:solidFill>
                  <a:srgbClr val="222222"/>
                </a:solidFill>
                <a:latin typeface="Microsoft JhengHei"/>
              </a:rPr>
              <a:t> / </a:t>
            </a:r>
            <a:r>
              <a:rPr sz="1400" b="0" dirty="0" err="1">
                <a:solidFill>
                  <a:srgbClr val="222222"/>
                </a:solidFill>
                <a:latin typeface="Microsoft JhengHei"/>
              </a:rPr>
              <a:t>報表</a:t>
            </a:r>
            <a:r>
              <a:rPr sz="1400" b="0" dirty="0">
                <a:solidFill>
                  <a:srgbClr val="222222"/>
                </a:solidFill>
                <a:latin typeface="Microsoft JhengHei"/>
              </a:rPr>
              <a:t> / </a:t>
            </a:r>
            <a:r>
              <a:rPr sz="1400" b="0" dirty="0" err="1">
                <a:solidFill>
                  <a:srgbClr val="222222"/>
                </a:solidFill>
                <a:latin typeface="Microsoft JhengHei"/>
              </a:rPr>
              <a:t>設定</a:t>
            </a:r>
            <a:endParaRPr sz="1400" b="0" dirty="0">
              <a:solidFill>
                <a:srgbClr val="222222"/>
              </a:solidFill>
              <a:latin typeface="Microsoft JhengHei"/>
            </a:endParaRPr>
          </a:p>
          <a:p>
            <a:pPr>
              <a:spcAft>
                <a:spcPts val="900"/>
              </a:spcAft>
            </a:pPr>
            <a:r>
              <a:rPr sz="1400" b="1" dirty="0">
                <a:solidFill>
                  <a:srgbClr val="2E6DB4"/>
                </a:solidFill>
                <a:latin typeface="Microsoft JhengHei"/>
              </a:rPr>
              <a:t>•  </a:t>
            </a:r>
            <a:r>
              <a:rPr sz="1400" b="1" dirty="0" err="1">
                <a:solidFill>
                  <a:srgbClr val="2E6DB4"/>
                </a:solidFill>
                <a:latin typeface="Microsoft JhengHei"/>
              </a:rPr>
              <a:t>判讀核心抽離，雲端</a:t>
            </a:r>
            <a:r>
              <a:rPr sz="1400" b="1" dirty="0">
                <a:solidFill>
                  <a:srgbClr val="2E6DB4"/>
                </a:solidFill>
                <a:latin typeface="Microsoft JhengHei"/>
              </a:rPr>
              <a:t> API </a:t>
            </a:r>
            <a:r>
              <a:rPr sz="1400" b="1" dirty="0" err="1">
                <a:solidFill>
                  <a:srgbClr val="2E6DB4"/>
                </a:solidFill>
                <a:latin typeface="Microsoft JhengHei"/>
              </a:rPr>
              <a:t>與本地模型可替換</a:t>
            </a:r>
            <a:endParaRPr sz="1400" b="1" dirty="0">
              <a:solidFill>
                <a:srgbClr val="2E6DB4"/>
              </a:solidFill>
              <a:latin typeface="Microsoft JhengHei"/>
            </a:endParaRPr>
          </a:p>
          <a:p>
            <a:pPr>
              <a:spcAft>
                <a:spcPts val="900"/>
              </a:spcAft>
            </a:pPr>
            <a:r>
              <a:rPr sz="1400" b="0" dirty="0">
                <a:solidFill>
                  <a:srgbClr val="222222"/>
                </a:solidFill>
                <a:latin typeface="Microsoft JhengHei"/>
              </a:rPr>
              <a:t>•  SQLite </a:t>
            </a:r>
            <a:r>
              <a:rPr sz="1400" b="0" dirty="0" err="1">
                <a:solidFill>
                  <a:srgbClr val="222222"/>
                </a:solidFill>
                <a:latin typeface="Microsoft JhengHei"/>
              </a:rPr>
              <a:t>零維運，量大可換</a:t>
            </a:r>
            <a:r>
              <a:rPr sz="1400" b="0" dirty="0">
                <a:solidFill>
                  <a:srgbClr val="222222"/>
                </a:solidFill>
                <a:latin typeface="Microsoft JhengHei"/>
              </a:rPr>
              <a:t> PostgreSQL</a:t>
            </a:r>
          </a:p>
          <a:p>
            <a:pPr>
              <a:spcAft>
                <a:spcPts val="900"/>
              </a:spcAft>
            </a:pPr>
            <a:r>
              <a:rPr sz="1400" b="0" dirty="0">
                <a:solidFill>
                  <a:srgbClr val="222222"/>
                </a:solidFill>
                <a:latin typeface="Microsoft JhengHei"/>
              </a:rPr>
              <a:t>•  </a:t>
            </a:r>
            <a:r>
              <a:rPr sz="1400" b="0" dirty="0" err="1">
                <a:solidFill>
                  <a:srgbClr val="222222"/>
                </a:solidFill>
                <a:latin typeface="Microsoft JhengHei"/>
              </a:rPr>
              <a:t>設定集中</a:t>
            </a:r>
            <a:r>
              <a:rPr sz="1400" b="0" dirty="0">
                <a:solidFill>
                  <a:srgbClr val="222222"/>
                </a:solidFill>
                <a:latin typeface="Microsoft JhengHei"/>
              </a:rPr>
              <a:t> .</a:t>
            </a:r>
            <a:r>
              <a:rPr sz="1400" b="0" dirty="0" err="1">
                <a:solidFill>
                  <a:srgbClr val="222222"/>
                </a:solidFill>
                <a:latin typeface="Microsoft JhengHei"/>
              </a:rPr>
              <a:t>env，金鑰不進版控</a:t>
            </a:r>
            <a:endParaRPr sz="1400" b="0" dirty="0">
              <a:solidFill>
                <a:srgbClr val="222222"/>
              </a:solidFill>
              <a:latin typeface="Microsoft JhengHei"/>
            </a:endParaRPr>
          </a:p>
          <a:p>
            <a:pPr>
              <a:spcAft>
                <a:spcPts val="900"/>
              </a:spcAft>
            </a:pPr>
            <a:r>
              <a:rPr sz="1400" b="1" dirty="0">
                <a:solidFill>
                  <a:srgbClr val="2E7D32"/>
                </a:solidFill>
                <a:latin typeface="Microsoft JhengHei"/>
              </a:rPr>
              <a:t>•  </a:t>
            </a:r>
            <a:r>
              <a:rPr sz="1400" b="1" dirty="0" err="1">
                <a:solidFill>
                  <a:srgbClr val="2E7D32"/>
                </a:solidFill>
                <a:latin typeface="Microsoft JhengHei"/>
              </a:rPr>
              <a:t>已開</a:t>
            </a:r>
            <a:r>
              <a:rPr sz="1400" b="1" dirty="0">
                <a:solidFill>
                  <a:srgbClr val="2E7D32"/>
                </a:solidFill>
                <a:latin typeface="Microsoft JhengHei"/>
              </a:rPr>
              <a:t> GET /</a:t>
            </a:r>
            <a:r>
              <a:rPr sz="1400" b="1" dirty="0" err="1">
                <a:solidFill>
                  <a:srgbClr val="2E7D32"/>
                </a:solidFill>
                <a:latin typeface="Microsoft JhengHei"/>
              </a:rPr>
              <a:t>api</a:t>
            </a:r>
            <a:r>
              <a:rPr sz="1400" b="1" dirty="0">
                <a:solidFill>
                  <a:srgbClr val="2E7D32"/>
                </a:solidFill>
                <a:latin typeface="Microsoft JhengHei"/>
              </a:rPr>
              <a:t>/</a:t>
            </a:r>
            <a:r>
              <a:rPr sz="1400" b="1" dirty="0" err="1">
                <a:solidFill>
                  <a:srgbClr val="2E7D32"/>
                </a:solidFill>
                <a:latin typeface="Microsoft JhengHei"/>
              </a:rPr>
              <a:t>stats，可串</a:t>
            </a:r>
            <a:r>
              <a:rPr sz="1400" b="1" dirty="0">
                <a:solidFill>
                  <a:srgbClr val="2E7D32"/>
                </a:solidFill>
                <a:latin typeface="Microsoft JhengHei"/>
              </a:rPr>
              <a:t> 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技術棧與關鍵設計決策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1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8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6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層</a:t>
                      </a:r>
                    </a:p>
                  </a:txBody>
                  <a:tcPr marL="73152" marT="18288" marB="18288" anchor="ctr"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技術</a:t>
                      </a:r>
                    </a:p>
                  </a:txBody>
                  <a:tcPr marL="73152" marT="18288" marB="18288" anchor="ctr"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為什麼選它</a:t>
                      </a:r>
                    </a:p>
                  </a:txBody>
                  <a:tcPr marL="73152" marT="18288" marB="18288" anchor="ctr">
                    <a:solidFill>
                      <a:srgbClr val="2E6D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Web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Flask + Jinja2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輕量、單檔可起、非技術人員也能操作瀏覽器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AI 判讀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Claude Vision API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通用視覺強、開箱即用、免訓練免 GPU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資料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SQLite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零安裝零維運，PoC 階段最省事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報表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openpyxl / reportlab / matplotlib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純 Python 產 Excel/PDF/圖，免 Office 授權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影像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Pillow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上傳前縮圖，直接砍 API token 成本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Microsoft JhengHei"/>
              </a:rPr>
              <a:t>兩個成本/品質的關鍵設計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dirty="0">
                <a:solidFill>
                  <a:srgbClr val="E67E22"/>
                </a:solidFill>
                <a:latin typeface="Microsoft JhengHei"/>
              </a:rPr>
              <a:t>•  </a:t>
            </a:r>
            <a:r>
              <a:rPr sz="1400" b="1" dirty="0" err="1">
                <a:solidFill>
                  <a:srgbClr val="E67E22"/>
                </a:solidFill>
                <a:latin typeface="Microsoft JhengHei"/>
              </a:rPr>
              <a:t>信心值</a:t>
            </a:r>
            <a:r>
              <a:rPr sz="1400" b="1" dirty="0">
                <a:solidFill>
                  <a:srgbClr val="E67E22"/>
                </a:solidFill>
                <a:latin typeface="Microsoft JhengHei"/>
              </a:rPr>
              <a:t> &lt; </a:t>
            </a:r>
            <a:r>
              <a:rPr sz="1400" b="1" dirty="0" err="1">
                <a:solidFill>
                  <a:srgbClr val="E67E22"/>
                </a:solidFill>
                <a:latin typeface="Microsoft JhengHei"/>
              </a:rPr>
              <a:t>門檻</a:t>
            </a:r>
            <a:r>
              <a:rPr sz="1400" b="1" dirty="0">
                <a:solidFill>
                  <a:srgbClr val="E67E22"/>
                </a:solidFill>
                <a:latin typeface="Microsoft JhengHei"/>
              </a:rPr>
              <a:t> → </a:t>
            </a:r>
            <a:r>
              <a:rPr sz="1400" b="1" dirty="0" err="1">
                <a:solidFill>
                  <a:srgbClr val="E67E22"/>
                </a:solidFill>
                <a:latin typeface="Microsoft JhengHei"/>
              </a:rPr>
              <a:t>自動標記「需人工覆核</a:t>
            </a:r>
            <a:r>
              <a:rPr sz="1400" b="1" dirty="0">
                <a:solidFill>
                  <a:srgbClr val="E67E22"/>
                </a:solidFill>
                <a:latin typeface="Microsoft JhengHei"/>
              </a:rPr>
              <a:t>」：</a:t>
            </a:r>
            <a:r>
              <a:rPr sz="1400" b="1" dirty="0" err="1">
                <a:solidFill>
                  <a:srgbClr val="E67E22"/>
                </a:solidFill>
                <a:latin typeface="Microsoft JhengHei"/>
              </a:rPr>
              <a:t>這是「AI+人工」雙保險的程式落點，降低漏檢風險</a:t>
            </a:r>
            <a:endParaRPr sz="1400" b="1" dirty="0">
              <a:solidFill>
                <a:srgbClr val="E67E22"/>
              </a:solidFill>
              <a:latin typeface="Microsoft JhengHei"/>
            </a:endParaRP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2E6DB4"/>
                </a:solidFill>
                <a:latin typeface="Microsoft JhengHei"/>
              </a:rPr>
              <a:t>•  </a:t>
            </a:r>
            <a:r>
              <a:rPr sz="1400" b="1" dirty="0" err="1">
                <a:solidFill>
                  <a:srgbClr val="2E6DB4"/>
                </a:solidFill>
                <a:latin typeface="Microsoft JhengHei"/>
              </a:rPr>
              <a:t>上傳影像等比縮到</a:t>
            </a:r>
            <a:r>
              <a:rPr sz="1400" b="1" dirty="0">
                <a:solidFill>
                  <a:srgbClr val="2E6DB4"/>
                </a:solidFill>
                <a:latin typeface="Microsoft JhengHei"/>
              </a:rPr>
              <a:t> </a:t>
            </a:r>
            <a:r>
              <a:rPr sz="1400" b="1" dirty="0" err="1">
                <a:solidFill>
                  <a:srgbClr val="2E6DB4"/>
                </a:solidFill>
                <a:latin typeface="Microsoft JhengHei"/>
              </a:rPr>
              <a:t>MAX_IMAGE_SIDE：直接決定單張</a:t>
            </a:r>
            <a:r>
              <a:rPr sz="1400" b="1" dirty="0">
                <a:solidFill>
                  <a:srgbClr val="2E6DB4"/>
                </a:solidFill>
                <a:latin typeface="Microsoft JhengHei"/>
              </a:rPr>
              <a:t> token </a:t>
            </a:r>
            <a:r>
              <a:rPr sz="1400" b="1" dirty="0" err="1">
                <a:solidFill>
                  <a:srgbClr val="2E6DB4"/>
                </a:solidFill>
                <a:latin typeface="Microsoft JhengHei"/>
              </a:rPr>
              <a:t>成本，可在</a:t>
            </a:r>
            <a:r>
              <a:rPr sz="1400" b="1" dirty="0">
                <a:solidFill>
                  <a:srgbClr val="2E6DB4"/>
                </a:solidFill>
                <a:latin typeface="Microsoft JhengHei"/>
              </a:rPr>
              <a:t> .env </a:t>
            </a:r>
            <a:r>
              <a:rPr sz="1400" b="1" dirty="0" err="1">
                <a:solidFill>
                  <a:srgbClr val="2E6DB4"/>
                </a:solidFill>
                <a:latin typeface="Microsoft JhengHei"/>
              </a:rPr>
              <a:t>調整不動程式</a:t>
            </a:r>
            <a:endParaRPr sz="1400" b="1" dirty="0">
              <a:solidFill>
                <a:srgbClr val="2E6DB4"/>
              </a:solidFill>
              <a:latin typeface="Microsoft JhengHei"/>
            </a:endParaRPr>
          </a:p>
          <a:p>
            <a:pPr>
              <a:spcAft>
                <a:spcPts val="1000"/>
              </a:spcAft>
            </a:pPr>
            <a:r>
              <a:rPr sz="1400" b="0" dirty="0">
                <a:solidFill>
                  <a:srgbClr val="555555"/>
                </a:solidFill>
                <a:latin typeface="Microsoft JhengHei"/>
              </a:rPr>
              <a:t>•  DEMO </a:t>
            </a:r>
            <a:r>
              <a:rPr sz="1400" b="0" dirty="0" err="1">
                <a:solidFill>
                  <a:srgbClr val="555555"/>
                </a:solidFill>
                <a:latin typeface="Microsoft JhengHei"/>
              </a:rPr>
              <a:t>模式：無金鑰時隨機判讀，方便無成本驗證整條流程</a:t>
            </a:r>
            <a:endParaRPr sz="1400" b="0" dirty="0">
              <a:solidFill>
                <a:srgbClr val="555555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無人工廠：全自動運作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Microsoft JhengHei"/>
              </a:rPr>
              <a:t>拍照機器 → 自動判讀 → 自動產報，零人工</a:t>
            </a:r>
          </a:p>
        </p:txBody>
      </p:sp>
      <p:pic>
        <p:nvPicPr>
          <p:cNvPr id="5" name="Picture 4" descr="架構圖_無人工廠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498079" cy="44077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18872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JhengHei"/>
              </a:rPr>
              <a:t>如何達成「只需產報」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6002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22222"/>
                </a:solidFill>
                <a:latin typeface="Microsoft JhengHei"/>
              </a:rPr>
              <a:t>•  watcher.py 常駐監看 watch/ 資料夾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Microsoft JhengHei"/>
              </a:rPr>
              <a:t>•  機器丟圖即自動判讀→寫庫→歸檔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•  「等檔案寫完才讀」防半截檔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22222"/>
                </a:solidFill>
                <a:latin typeface="Microsoft JhengHei"/>
              </a:rPr>
              <a:t>•  report.py 掛排程每日自動產+寄報告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E6DB4"/>
                </a:solidFill>
                <a:latin typeface="Microsoft JhengHei"/>
              </a:rPr>
              <a:t>•  三輸入並存：自動 / 手動上傳(備援) / 唯讀監看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E7D32"/>
                </a:solidFill>
                <a:latin typeface="Microsoft JhengHei"/>
              </a:rPr>
              <a:t>•  管理者只看 /view 與收信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實際運行畫面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Microsoft JhengHei"/>
              </a:rPr>
              <a:t>已完成可運行 PoC（示範模式截圖）</a:t>
            </a:r>
          </a:p>
        </p:txBody>
      </p:sp>
      <p:pic>
        <p:nvPicPr>
          <p:cNvPr id="5" name="Picture 4" descr="smartqc_執行畫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418" y="1097280"/>
            <a:ext cx="4979963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18872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JhengHei"/>
              </a:rPr>
              <a:t>畫面重點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222222"/>
                </a:solidFill>
                <a:latin typeface="Microsoft JhengHei"/>
              </a:rPr>
              <a:t>•  即時儀表板：總數/OK/NG/瑕疵率/需覆核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22222"/>
                </a:solidFill>
                <a:latin typeface="Microsoft JhengHei"/>
              </a:rPr>
              <a:t>•  判讀紀錄表：OK綠 / NG紅 / 需覆核黃標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2E6DB4"/>
                </a:solidFill>
                <a:latin typeface="Microsoft JhengHei"/>
              </a:rPr>
              <a:t>•  machine_shot_* = 自動吃圖留下的紀錄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22222"/>
                </a:solidFill>
                <a:latin typeface="Microsoft JhengHei"/>
              </a:rPr>
              <a:t>•  一鍵產生並下載 Excel / PDF 日報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•  右上標籤標示目前為示範模式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程式如何檢驗一張照片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Microsoft JhengHei"/>
              </a:rPr>
              <a:t>Coding Flow — 六步驟，每步對應一個函式</a:t>
            </a:r>
          </a:p>
        </p:txBody>
      </p:sp>
      <p:pic>
        <p:nvPicPr>
          <p:cNvPr id="5" name="Picture 4" descr="檢驗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412480" cy="46047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0" y="11887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JhengHei"/>
              </a:rPr>
              <a:t>對應函式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6459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Microsoft JhengHei"/>
              </a:rPr>
              <a:t>•  ① app.py / watcher.py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E6DB4"/>
                </a:solidFill>
                <a:latin typeface="Microsoft JhengHei"/>
              </a:rPr>
              <a:t>•  ② preprocess_image()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E7D32"/>
                </a:solidFill>
                <a:latin typeface="Microsoft JhengHei"/>
              </a:rPr>
              <a:t>•  ③ _call_claude()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E6DB4"/>
                </a:solidFill>
                <a:latin typeface="Microsoft JhengHei"/>
              </a:rPr>
              <a:t>•  ④ _parse()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67E22"/>
                </a:solidFill>
                <a:latin typeface="Microsoft JhengHei"/>
              </a:rPr>
              <a:t>•  ⑤ detect()  ← 覆核門檻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Microsoft JhengHei"/>
              </a:rPr>
              <a:t>•  ⑥ insert_result()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•  全在 detector.py / database.py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關鍵程式碼 (1)：前處理 + 送 AI 判讀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Microsoft JhengHei"/>
              </a:rPr>
              <a:t>detector.py — 縮圖省成本，把圖與判讀指示送給 Claude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7680960" cy="5212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/>
            <a:r>
              <a:rPr sz="1200">
                <a:solidFill>
                  <a:srgbClr val="569CD6"/>
                </a:solidFill>
                <a:latin typeface="Consolas"/>
              </a:rPr>
              <a:t>def preprocess_image(path):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img = Image.open(path).convert('RGB')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side = max(img.size)</a:t>
            </a:r>
          </a:p>
          <a:p>
            <a:pPr algn="l"/>
            <a:r>
              <a:rPr sz="1200">
                <a:solidFill>
                  <a:srgbClr val="6A9955"/>
                </a:solidFill>
                <a:latin typeface="Consolas"/>
              </a:rPr>
              <a:t>    # 超過上限就等比縮小 → 直接砍 token 成本</a:t>
            </a:r>
          </a:p>
          <a:p>
            <a:pPr algn="l"/>
            <a:r>
              <a:rPr sz="1200">
                <a:solidFill>
                  <a:srgbClr val="569CD6"/>
                </a:solidFill>
                <a:latin typeface="Consolas"/>
              </a:rPr>
              <a:t>    if side &gt; MAX_IMAGE_SIDE: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scale = MAX_IMAGE_SIDE / side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img = img.resize(...)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return jpeg_bytes, 'image/jpeg'</a:t>
            </a:r>
          </a:p>
          <a:p>
            <a:pPr algn="l"/>
            <a:endParaRPr sz="1200">
              <a:solidFill>
                <a:srgbClr val="D4D4D4"/>
              </a:solidFill>
              <a:latin typeface="Consolas"/>
            </a:endParaRPr>
          </a:p>
          <a:p>
            <a:pPr algn="l"/>
            <a:r>
              <a:rPr sz="1200">
                <a:solidFill>
                  <a:srgbClr val="569CD6"/>
                </a:solidFill>
                <a:latin typeface="Consolas"/>
              </a:rPr>
              <a:t>def _call_claude(path):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img, mtype = preprocess_image(path)</a:t>
            </a:r>
          </a:p>
          <a:p>
            <a:pPr algn="l"/>
            <a:r>
              <a:rPr sz="1200">
                <a:solidFill>
                  <a:srgbClr val="DCDCAA"/>
                </a:solidFill>
                <a:latin typeface="Consolas"/>
              </a:rPr>
              <a:t>    resp = client.messages.create(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model=MODEL_ID, max_tokens=300,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messages=[{'role':'user','content':[</a:t>
            </a:r>
          </a:p>
          <a:p>
            <a:pPr algn="l"/>
            <a:r>
              <a:rPr sz="1200">
                <a:solidFill>
                  <a:srgbClr val="6A9955"/>
                </a:solidFill>
                <a:latin typeface="Consolas"/>
              </a:rPr>
              <a:t>        {'type':'image', ...},   # 產品照片</a:t>
            </a:r>
          </a:p>
          <a:p>
            <a:pPr algn="l"/>
            <a:r>
              <a:rPr sz="1200">
                <a:solidFill>
                  <a:srgbClr val="6A9955"/>
                </a:solidFill>
                <a:latin typeface="Consolas"/>
              </a:rPr>
              <a:t>        {'type':'text','text':prompt}]}])  # 判讀指示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return _parse(resp.content[0].text)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1887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JhengHei"/>
              </a:rPr>
              <a:t>重點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E6DB4"/>
                </a:solidFill>
                <a:latin typeface="Microsoft JhengHei"/>
              </a:rPr>
              <a:t>•  縮圖在送 API 前做，直接決定單張成本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Microsoft JhengHei"/>
              </a:rPr>
              <a:t>•  一次請求同時送『圖 + 判讀指示』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Microsoft JhengHei"/>
              </a:rPr>
              <a:t>•  prompt 要求 AI 只回 JSON，方便程式解析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55555"/>
                </a:solidFill>
                <a:latin typeface="Microsoft JhengHei"/>
              </a:rPr>
              <a:t>•  max_tokens 限制回應長度，控成本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關鍵程式碼 (2)：判讀指示 + 解析 + 覆核機制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Microsoft JhengHei"/>
              </a:rPr>
              <a:t>detector.py — 要 AI 回結構化 JSON，信心低於門檻自動轉人工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7589520" cy="5212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l"/>
            <a:r>
              <a:rPr sz="1200">
                <a:solidFill>
                  <a:srgbClr val="6A9955"/>
                </a:solidFill>
                <a:latin typeface="Consolas"/>
              </a:rPr>
              <a:t># ① 給 AI 的判讀指示（要求只回 JSON）</a:t>
            </a:r>
          </a:p>
          <a:p>
            <a:pPr algn="l"/>
            <a:r>
              <a:rPr sz="1200">
                <a:solidFill>
                  <a:srgbClr val="CE9178"/>
                </a:solidFill>
                <a:latin typeface="Consolas"/>
              </a:rPr>
              <a:t>_PROMPT = '''判斷照片是否有瑕疵。</a:t>
            </a:r>
          </a:p>
          <a:p>
            <a:pPr algn="l"/>
            <a:r>
              <a:rPr sz="1200">
                <a:solidFill>
                  <a:srgbClr val="CE9178"/>
                </a:solidFill>
                <a:latin typeface="Consolas"/>
              </a:rPr>
              <a:t>  只回 JSON：{"result":"OK/NG",</a:t>
            </a:r>
          </a:p>
          <a:p>
            <a:pPr algn="l"/>
            <a:r>
              <a:rPr sz="1200">
                <a:solidFill>
                  <a:srgbClr val="CE9178"/>
                </a:solidFill>
                <a:latin typeface="Consolas"/>
              </a:rPr>
              <a:t>  "defect_type":..., "confidence":0~1}'''</a:t>
            </a:r>
          </a:p>
          <a:p>
            <a:pPr algn="l"/>
            <a:endParaRPr sz="1200">
              <a:solidFill>
                <a:srgbClr val="CE9178"/>
              </a:solidFill>
              <a:latin typeface="Consolas"/>
            </a:endParaRPr>
          </a:p>
          <a:p>
            <a:pPr algn="l"/>
            <a:r>
              <a:rPr sz="1200">
                <a:solidFill>
                  <a:srgbClr val="6A9955"/>
                </a:solidFill>
                <a:latin typeface="Consolas"/>
              </a:rPr>
              <a:t># ② 容錯解析 AI 回應</a:t>
            </a:r>
          </a:p>
          <a:p>
            <a:pPr algn="l"/>
            <a:r>
              <a:rPr sz="1200">
                <a:solidFill>
                  <a:srgbClr val="569CD6"/>
                </a:solidFill>
                <a:latin typeface="Consolas"/>
              </a:rPr>
              <a:t>def _parse(text):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return json.loads(extract_json(text))</a:t>
            </a:r>
          </a:p>
          <a:p>
            <a:pPr algn="l"/>
            <a:endParaRPr sz="1200">
              <a:solidFill>
                <a:srgbClr val="D4D4D4"/>
              </a:solidFill>
              <a:latin typeface="Consolas"/>
            </a:endParaRPr>
          </a:p>
          <a:p>
            <a:pPr algn="l"/>
            <a:r>
              <a:rPr sz="1200">
                <a:solidFill>
                  <a:srgbClr val="6A9955"/>
                </a:solidFill>
                <a:latin typeface="Consolas"/>
              </a:rPr>
              <a:t># ③ 套用覆核門檻（雙保險核心）</a:t>
            </a:r>
          </a:p>
          <a:p>
            <a:pPr algn="l"/>
            <a:r>
              <a:rPr sz="1200">
                <a:solidFill>
                  <a:srgbClr val="569CD6"/>
                </a:solidFill>
                <a:latin typeface="Consolas"/>
              </a:rPr>
              <a:t>def detect(path):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raw = _demo_result() if DEMO_MODE \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    else _call_claude(path)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conf = float(raw.get('confidence', 0))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return {</a:t>
            </a:r>
          </a:p>
          <a:p>
            <a:pPr algn="l"/>
            <a:r>
              <a:rPr sz="1200">
                <a:solidFill>
                  <a:srgbClr val="D4D4D4"/>
                </a:solidFill>
                <a:latin typeface="Consolas"/>
              </a:rPr>
              <a:t>      'result': raw['result'], 'confidence': conf,</a:t>
            </a:r>
          </a:p>
          <a:p>
            <a:pPr algn="l"/>
            <a:r>
              <a:rPr sz="1200">
                <a:solidFill>
                  <a:srgbClr val="6A9955"/>
                </a:solidFill>
                <a:latin typeface="Consolas"/>
              </a:rPr>
              <a:t>      # ★ 信心低於門檻 → 自動轉人工覆核</a:t>
            </a:r>
          </a:p>
          <a:p>
            <a:pPr algn="l"/>
            <a:r>
              <a:rPr sz="1200">
                <a:solidFill>
                  <a:srgbClr val="DCDCAA"/>
                </a:solidFill>
                <a:latin typeface="Consolas"/>
              </a:rPr>
              <a:t>      'need_review': conf &lt; CONFIDENCE_THRESHOLD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1887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JhengHei"/>
              </a:rPr>
              <a:t>這段在表達什麼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222222"/>
                </a:solidFill>
                <a:latin typeface="Microsoft JhengHei"/>
              </a:rPr>
              <a:t>•  要 AI 回固定 JSON 格式，程式才好接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22222"/>
                </a:solidFill>
                <a:latin typeface="Microsoft JhengHei"/>
              </a:rPr>
              <a:t>•  _parse 容錯：去除 AI 多餘文字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Microsoft JhengHei"/>
              </a:rPr>
              <a:t>•  ★ need_review 是雙保險落點：</a:t>
            </a:r>
          </a:p>
          <a:p>
            <a:pPr lvl="1">
              <a:spcAft>
                <a:spcPts val="900"/>
              </a:spcAft>
            </a:pPr>
            <a:r>
              <a:rPr sz="1300" b="0">
                <a:solidFill>
                  <a:srgbClr val="222222"/>
                </a:solidFill>
                <a:latin typeface="Microsoft JhengHei"/>
              </a:rPr>
              <a:t>–  AI 不確定就交人工</a:t>
            </a:r>
          </a:p>
          <a:p>
            <a:pPr lvl="1">
              <a:spcAft>
                <a:spcPts val="900"/>
              </a:spcAft>
            </a:pPr>
            <a:r>
              <a:rPr sz="1300" b="0">
                <a:solidFill>
                  <a:srgbClr val="222222"/>
                </a:solidFill>
                <a:latin typeface="Microsoft JhengHei"/>
              </a:rPr>
              <a:t>–  門檻寫在 .env 可調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2E6DB4"/>
                </a:solidFill>
                <a:latin typeface="Microsoft JhengHei"/>
              </a:rPr>
              <a:t>•  解析失敗保守判 NG，避免漏檢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商業效益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Microsoft JhengHei"/>
              </a:rPr>
              <a:t>中型廠試算（2,000 張/日，可代入真實值）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6675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5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項目</a:t>
                      </a:r>
                    </a:p>
                  </a:txBody>
                  <a:tcPr marL="73152" marT="18288" marB="18288" anchor="ctr"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月金額</a:t>
                      </a:r>
                    </a:p>
                  </a:txBody>
                  <a:tcPr marL="73152" marT="18288" marB="18288" anchor="ctr">
                    <a:solidFill>
                      <a:srgbClr val="2E6D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人力節省（淨減 3 人）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+NT$63,000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品質改善（漏檢/客訴↓）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+NT$25,000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自動報表省工時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+NT$3,000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效益小計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+NT$91,000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API 費用（44,000 張）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−NT$35,200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維運成本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−NT$5,000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每月淨效益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約 +NT$50,800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1188720"/>
            <a:ext cx="4389120" cy="128016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建置成本
NT$300,000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651760"/>
            <a:ext cx="438912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JhengHei"/>
              </a:rPr>
              <a:t>回本期
約 6 個月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114800"/>
            <a:ext cx="438912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首年淨效益 ≈ +NT$30 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icrosoft JhengHei"/>
              </a:rPr>
              <a:t>💡 數值為假設試算；單張 API 成本建議用真實照片實測校正（已備 accuracy_test.py）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技術選型與擴充路徑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Microsoft JhengHei"/>
              </a:rPr>
              <a:t>雲端 API vs 本地模型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7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7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比較項目</a:t>
                      </a:r>
                    </a:p>
                  </a:txBody>
                  <a:tcPr marL="73152" marT="18288" marB="18288" anchor="ctr"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雲端 API（現方案）</a:t>
                      </a:r>
                    </a:p>
                  </a:txBody>
                  <a:tcPr marL="73152" marT="18288" marB="18288" anchor="ctr"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本地模型（未來選項）</a:t>
                      </a:r>
                    </a:p>
                  </a:txBody>
                  <a:tcPr marL="73152" marT="18288" marB="18288" anchor="ctr">
                    <a:solidFill>
                      <a:srgbClr val="2E6D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初期硬體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低（免 GPU）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高（GPU NT$10–50 萬）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月費用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隨量付費，量大則貴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固定（電費），量大划算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準確度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通用模型強，開箱即用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需自行微調，初期較弱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資料隱私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上傳雲端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完全內網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開發難度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低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Microsoft JhengHei"/>
                        </a:rPr>
                        <a:t>高（需 ML 知識）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54880"/>
            <a:ext cx="11247120" cy="118872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3A5F"/>
                </a:solidFill>
                <a:latin typeface="Microsoft JhengHei"/>
              </a:rPr>
              <a:t>建議路徑：雲端 API 快速 PoC 驗證價值 → 確認效益後，產量大再評估轉本地模型
判讀核心已抽離，未來只需改寫 detector 的 _call_claude，不動其他模組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風險與資安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AF1FB"/>
                </a:solidFill>
                <a:latin typeface="Microsoft JhengHei"/>
              </a:rPr>
              <a:t>工程師最常問的幾題，附對應設計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7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風險 / 疑慮</a:t>
                      </a:r>
                    </a:p>
                  </a:txBody>
                  <a:tcPr marL="73152" marT="18288" marB="18288" anchor="ctr"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因應設計</a:t>
                      </a:r>
                    </a:p>
                  </a:txBody>
                  <a:tcPr marL="73152" marT="18288" marB="18288" anchor="ctr">
                    <a:solidFill>
                      <a:srgbClr val="2E6D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產品照片上雲，機密外洩？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確認 API 資料政策（不用於訓練）；金鑰存 .env 不進版控；高機密產品可改本地模型，照片全留內網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API 故障 / 斷網，產線會停？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圖先落地 watch/ 不遺失，產線不依賴即時判讀；判讀失敗的圖歸檔 _failed/ 可重投；建議擴充自動重試（路線圖）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AI 判錯、漏檢不良品？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「AI + 人工覆核」雙保險：信心低自動轉人工；解析失敗保守判 NG；上線前與現有 QC 並行比對驗證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API 費用失控？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費用與產量成正比可預估；影像縮圖降單張成本；可設用量告警；量大轉本地模型（固定成本）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資料遺失 / 可追溯性？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每筆判讀含時間/檔名/結果/信心存 SQLite；原圖歸檔 processed/；可定期備份 DB 與影像</a:t>
                      </a:r>
                    </a:p>
                  </a:txBody>
                  <a:tcPr marL="73152" marT="18288" marB="18288" anchor="ctr"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Microsoft JhengHei"/>
              </a:rPr>
              <a:t>原則：把「AI 不完美」當前提來設計 — 覆核、備援、可追溯，而非假設 AI 永遠對。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現況與下一步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E7D32"/>
                </a:solidFill>
                <a:latin typeface="Microsoft JhengHei"/>
              </a:rPr>
              <a:t>✅ 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icrosoft JhengHei"/>
              </a:rPr>
              <a:t>•  可運行 PoC（Flask Web App）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icrosoft JhengHei"/>
              </a:rPr>
              <a:t>•  AI 判讀核心（含 DEMO 模式）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icrosoft JhengHei"/>
              </a:rPr>
              <a:t>•  自動產 Excel/PDF 日報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icrosoft JhengHei"/>
              </a:rPr>
              <a:t>•  無人工廠自動吃圖 watcher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icrosoft JhengHei"/>
              </a:rPr>
              <a:t>•  唯讀監看 + 手動上傳備援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icrosoft JhengHei"/>
              </a:rPr>
              <a:t>•  流程圖/架構圖/兩份手冊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E7D32"/>
                </a:solidFill>
                <a:latin typeface="Microsoft JhengHei"/>
              </a:rPr>
              <a:t>•  端到端測試通過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43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67E22"/>
                </a:solidFill>
                <a:latin typeface="Microsoft JhengHei"/>
              </a:rPr>
              <a:t>🔜 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22222"/>
                </a:solidFill>
                <a:latin typeface="Microsoft JhengHei"/>
              </a:rPr>
              <a:t>•  填 API 金鑰，切正式模式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E67E22"/>
                </a:solidFill>
                <a:latin typeface="Microsoft JhengHei"/>
              </a:rPr>
              <a:t>•  真實照片實測準確度與單張成本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E67E22"/>
                </a:solidFill>
                <a:latin typeface="Microsoft JhengHei"/>
              </a:rPr>
              <a:t>•  投資拍攝標準化（燈源/治具）← 準確率關鍵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icrosoft JhengHei"/>
              </a:rPr>
              <a:t>•  與現有 QC 並行試運行驗證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icrosoft JhengHei"/>
              </a:rPr>
              <a:t>•  watcher 包成 Windows 服務常駐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Microsoft JhengHei"/>
              </a:rPr>
              <a:t>•  ROI 數字代入公司真實值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3A5F"/>
                </a:solidFill>
                <a:latin typeface="Microsoft JhengHei"/>
              </a:rPr>
              <a:t>一句話：PoC 已可運作，下一步是用真實照片驗準確度與成本，再決定是否擴大導入。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JhengHei"/>
              </a:rPr>
              <a:t>展示一：一句話 → 一套系統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AF1FB"/>
                </a:solidFill>
                <a:latin typeface="Microsoft JhengHei"/>
              </a:rPr>
              <a:t>我只丟一句話，Agent 自己把整個專案建出來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59375" y="850392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E6DB4"/>
                </a:solidFill>
                <a:latin typeface="Microsoft JhengHei"/>
              </a:rPr>
              <a:t>👤 開發者（你）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59375" y="1143000"/>
            <a:ext cx="6583680" cy="685800"/>
          </a:xfrm>
          <a:prstGeom prst="round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設計一套自動 QC 的程式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47672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icrosoft JhengHei"/>
              </a:rPr>
              <a:t>🤖 Claude Code（Agent）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7498079" cy="18288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JhengHei"/>
              </a:rPr>
              <a:t>好的，我規劃了專案結構並開始建立：</a:t>
            </a:r>
          </a:p>
          <a:p>
            <a:pPr algn="l"/>
            <a:r>
              <a:rPr sz="1400" b="0">
                <a:solidFill>
                  <a:srgbClr val="2E7D32"/>
                </a:solidFill>
                <a:latin typeface="Microsoft JhengHei"/>
              </a:rPr>
              <a:t>  ✓ 建立 config.py / database.py / detector.py</a:t>
            </a:r>
          </a:p>
          <a:p>
            <a:pPr algn="l"/>
            <a:r>
              <a:rPr sz="1400" b="0">
                <a:solidFill>
                  <a:srgbClr val="2E7D32"/>
                </a:solidFill>
                <a:latin typeface="Microsoft JhengHei"/>
              </a:rPr>
              <a:t>  ✓ 建立 report.py / app.py / templates/index.html</a:t>
            </a:r>
          </a:p>
          <a:p>
            <a:pPr algn="l"/>
            <a:r>
              <a:rPr sz="1400" b="0">
                <a:solidFill>
                  <a:srgbClr val="2E7D32"/>
                </a:solidFill>
                <a:latin typeface="Microsoft JhengHei"/>
              </a:rPr>
              <a:t>  ✓ 安裝 Flask、reportlab 等套件</a:t>
            </a:r>
          </a:p>
          <a:p>
            <a:pPr algn="l"/>
            <a:r>
              <a:rPr sz="1400" b="0">
                <a:solidFill>
                  <a:srgbClr val="2E7D32"/>
                </a:solidFill>
                <a:latin typeface="Microsoft JhengHei"/>
              </a:rPr>
              <a:t>  ✓ 寫好 smoke_test.py 並執行 →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34840"/>
            <a:ext cx="7498079" cy="14630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200" b="0">
                <a:solidFill>
                  <a:srgbClr val="C8C8C8"/>
                </a:solidFill>
                <a:latin typeface="Consolas"/>
              </a:rPr>
              <a:t>$ python smoke_test.py</a:t>
            </a:r>
          </a:p>
          <a:p>
            <a:pPr algn="l"/>
            <a:r>
              <a:rPr sz="1200" b="0">
                <a:solidFill>
                  <a:srgbClr val="C8C8C8"/>
                </a:solidFill>
                <a:latin typeface="Consolas"/>
              </a:rPr>
              <a:t>今日: 總數=10 OK=8 NG=2 瑕疵率=20.0%</a:t>
            </a:r>
          </a:p>
          <a:p>
            <a:pPr algn="l"/>
            <a:r>
              <a:rPr sz="1200" b="0">
                <a:solidFill>
                  <a:srgbClr val="C8C8C8"/>
                </a:solidFill>
                <a:latin typeface="Consolas"/>
              </a:rPr>
              <a:t>Excel/PDF 日報已產出</a:t>
            </a:r>
          </a:p>
          <a:p>
            <a:pPr algn="l"/>
            <a:r>
              <a:rPr sz="1200" b="0">
                <a:solidFill>
                  <a:srgbClr val="C8C8C8"/>
                </a:solidFill>
                <a:latin typeface="Consolas"/>
              </a:rPr>
              <a:t>PASS - 所有模組正常運作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JhengHei"/>
              </a:rPr>
              <a:t>展示二：它自己動手 + 截圖驗證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AF1FB"/>
                </a:solidFill>
                <a:latin typeface="Microsoft JhengHei"/>
              </a:rPr>
              <a:t>Agent 不只寫 code，還自己跑起來、截圖確認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E6DB4"/>
                </a:solidFill>
                <a:latin typeface="Microsoft JhengHei"/>
              </a:rPr>
              <a:t>👤 開發者（你）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4937760" cy="640080"/>
          </a:xfrm>
          <a:prstGeom prst="round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500" b="1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幫我</a:t>
            </a:r>
            <a:r>
              <a:rPr lang="zh-TW" altLang="en-US" sz="15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驗證並截圖</a:t>
            </a:r>
            <a:endParaRPr sz="15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03911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icrosoft JhengHei"/>
              </a:rPr>
              <a:t>🤖 Claude Code（Agent）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4937760" cy="1554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300" b="0" dirty="0" err="1">
                <a:solidFill>
                  <a:srgbClr val="222222"/>
                </a:solidFill>
                <a:latin typeface="Microsoft JhengHei"/>
              </a:rPr>
              <a:t>我啟動了伺服器，並用瀏覽器截圖確認畫面正常</a:t>
            </a:r>
            <a:r>
              <a:rPr sz="1300" b="0" dirty="0">
                <a:solidFill>
                  <a:srgbClr val="222222"/>
                </a:solidFill>
                <a:latin typeface="Microsoft JhengHei"/>
              </a:rPr>
              <a:t>：</a:t>
            </a:r>
          </a:p>
          <a:p>
            <a:pPr algn="l"/>
            <a:r>
              <a:rPr sz="1300" b="0" dirty="0">
                <a:solidFill>
                  <a:srgbClr val="2E7D32"/>
                </a:solidFill>
                <a:latin typeface="Microsoft JhengHei"/>
              </a:rPr>
              <a:t>  ✓ python app.py → </a:t>
            </a:r>
            <a:r>
              <a:rPr sz="1300" b="0" dirty="0" err="1">
                <a:solidFill>
                  <a:srgbClr val="2E7D32"/>
                </a:solidFill>
                <a:latin typeface="Microsoft JhengHei"/>
              </a:rPr>
              <a:t>伺服器狀態</a:t>
            </a:r>
            <a:r>
              <a:rPr sz="1300" b="0" dirty="0">
                <a:solidFill>
                  <a:srgbClr val="2E7D32"/>
                </a:solidFill>
                <a:latin typeface="Microsoft JhengHei"/>
              </a:rPr>
              <a:t> 200</a:t>
            </a:r>
          </a:p>
          <a:p>
            <a:pPr algn="l"/>
            <a:r>
              <a:rPr sz="1300" b="0" dirty="0">
                <a:solidFill>
                  <a:srgbClr val="2E7D32"/>
                </a:solidFill>
                <a:latin typeface="Microsoft JhengHei"/>
              </a:rPr>
              <a:t>  ✓ </a:t>
            </a:r>
            <a:r>
              <a:rPr sz="1300" b="0" dirty="0" err="1">
                <a:solidFill>
                  <a:srgbClr val="2E7D32"/>
                </a:solidFill>
                <a:latin typeface="Microsoft JhengHei"/>
              </a:rPr>
              <a:t>自動截圖儀表板</a:t>
            </a:r>
            <a:r>
              <a:rPr sz="1300" b="0" dirty="0">
                <a:solidFill>
                  <a:srgbClr val="2E7D32"/>
                </a:solidFill>
                <a:latin typeface="Microsoft JhengHei"/>
              </a:rPr>
              <a:t> → </a:t>
            </a:r>
            <a:r>
              <a:rPr sz="1300" b="0" dirty="0" err="1">
                <a:solidFill>
                  <a:srgbClr val="2E7D32"/>
                </a:solidFill>
                <a:latin typeface="Microsoft JhengHei"/>
              </a:rPr>
              <a:t>中文正常、數據正常</a:t>
            </a:r>
            <a:endParaRPr sz="1300" b="0" dirty="0">
              <a:solidFill>
                <a:srgbClr val="2E7D32"/>
              </a:solidFill>
              <a:latin typeface="Microsoft JhengHei"/>
            </a:endParaRPr>
          </a:p>
        </p:txBody>
      </p:sp>
      <p:pic>
        <p:nvPicPr>
          <p:cNvPr id="9" name="Picture 8" descr="smartqc_執行畫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4135901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2160" y="5760720"/>
            <a:ext cx="413590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55555"/>
                </a:solidFill>
                <a:latin typeface="Microsoft JhengHei"/>
              </a:rPr>
              <a:t>↑ Agent 自己截的真實運行畫面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JhengHei"/>
              </a:rPr>
              <a:t>展示三：接住追問、逐步補強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AF1FB"/>
                </a:solidFill>
                <a:latin typeface="Microsoft JhengHei"/>
              </a:rPr>
              <a:t>在同一套程式上持續改進，記得整個脈絡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59375" y="804672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E6DB4"/>
                </a:solidFill>
                <a:latin typeface="Microsoft JhengHei"/>
              </a:rPr>
              <a:t>👤 開發者（你）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59375" y="1097280"/>
            <a:ext cx="6583680" cy="566928"/>
          </a:xfrm>
          <a:prstGeom prst="round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API 費用怎麼把關？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82496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icrosoft JhengHei"/>
              </a:rPr>
              <a:t>🤖 Claude Code（Agent）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75104"/>
            <a:ext cx="7498079" cy="6400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300" b="0">
                <a:solidFill>
                  <a:srgbClr val="2E7D32"/>
                </a:solidFill>
                <a:latin typeface="Microsoft JhengHei"/>
              </a:rPr>
              <a:t>已補上：影像縮圖 + max_tokens 限制，直接降低單張成本。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9375" y="2596896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E6DB4"/>
                </a:solidFill>
                <a:latin typeface="Microsoft JhengHei"/>
              </a:rPr>
              <a:t>👤 開發者（你）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59375" y="2889504"/>
            <a:ext cx="6583680" cy="566928"/>
          </a:xfrm>
          <a:prstGeom prst="round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AI 判錯、漏檢怎麼辦？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icrosoft JhengHei"/>
              </a:rPr>
              <a:t>🤖 Claude Code（Agent）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67328"/>
            <a:ext cx="7498079" cy="6400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300" b="0">
                <a:solidFill>
                  <a:srgbClr val="2E7D32"/>
                </a:solidFill>
                <a:latin typeface="Microsoft JhengHei"/>
              </a:rPr>
              <a:t>已補上：信心值低於門檻 → 自動標記『需人工覆核』，雙保險。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9375" y="438912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E6DB4"/>
                </a:solidFill>
                <a:latin typeface="Microsoft JhengHei"/>
              </a:rPr>
              <a:t>👤 開發者（你）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9375" y="4681728"/>
            <a:ext cx="6583680" cy="566928"/>
          </a:xfrm>
          <a:prstGeom prst="round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我們要做無人工廠，機器自動上傳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66944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icrosoft JhengHei"/>
              </a:rPr>
              <a:t>🤖 Claude Code（Agent）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559552"/>
            <a:ext cx="7498079" cy="6400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300" b="0">
                <a:solidFill>
                  <a:srgbClr val="2E7D32"/>
                </a:solidFill>
                <a:latin typeface="Microsoft JhengHei"/>
              </a:rPr>
              <a:t>已新增 watcher.py：監看資料夾自動吃圖判讀，手動上傳保留當備援。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JhengHei"/>
              </a:rPr>
              <a:t>展示四：連文件、圖、報告都自己做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AF1FB"/>
                </a:solidFill>
                <a:latin typeface="Microsoft JhengHei"/>
              </a:rPr>
              <a:t>不只程式 — 架構圖、手冊、簡報一手包辦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59375" y="850392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E6DB4"/>
                </a:solidFill>
                <a:latin typeface="Microsoft JhengHei"/>
              </a:rPr>
              <a:t>👤 開發者（你）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59375" y="1143000"/>
            <a:ext cx="6583680" cy="640080"/>
          </a:xfrm>
          <a:prstGeom prst="round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要有流程圖、架構圖、使用手冊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5623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icrosoft JhengHei"/>
              </a:rPr>
              <a:t>🤖 Claude Code（Agent）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4937760" cy="12801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300" b="0">
                <a:solidFill>
                  <a:srgbClr val="222222"/>
                </a:solidFill>
                <a:latin typeface="Microsoft JhengHei"/>
              </a:rPr>
              <a:t>我用程式畫出圖、產生文件：</a:t>
            </a:r>
          </a:p>
          <a:p>
            <a:pPr algn="l"/>
            <a:r>
              <a:rPr sz="1300" b="0">
                <a:solidFill>
                  <a:srgbClr val="2E7D32"/>
                </a:solidFill>
                <a:latin typeface="Microsoft JhengHei"/>
              </a:rPr>
              <a:t>  ✓ 流程圖、架構圖、無人工廠架構圖</a:t>
            </a:r>
          </a:p>
          <a:p>
            <a:pPr algn="l"/>
            <a:r>
              <a:rPr sz="1300" b="0">
                <a:solidFill>
                  <a:srgbClr val="2E7D32"/>
                </a:solidFill>
                <a:latin typeface="Microsoft JhengHei"/>
              </a:rPr>
              <a:t>  ✓ 操作手冊 + 維護手冊（md/Word/PDF）</a:t>
            </a:r>
          </a:p>
        </p:txBody>
      </p:sp>
      <p:pic>
        <p:nvPicPr>
          <p:cNvPr id="9" name="Picture 8" descr="架構圖_無人工廠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148840"/>
            <a:ext cx="5943600" cy="34939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2160" y="486557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55555"/>
                </a:solidFill>
                <a:latin typeface="Microsoft JhengHei"/>
              </a:rPr>
              <a:t>↑ Agent 自己用程式畫的架構圖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JhengHei"/>
              </a:rPr>
              <a:t>展示五：把重複工作變成「Skill」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AF1FB"/>
                </a:solidFill>
                <a:latin typeface="Microsoft JhengHei"/>
              </a:rPr>
              <a:t>教 Agent 一次標準流程，以後叫一聲（/指令）就自動做完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2095" y="850392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E6DB4"/>
                </a:solidFill>
                <a:latin typeface="Microsoft JhengHei"/>
              </a:rPr>
              <a:t>👤 開發者（你）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62095" y="1143000"/>
            <a:ext cx="7680960" cy="731520"/>
          </a:xfrm>
          <a:prstGeom prst="round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把常做的事做成 Skill — 含開發流程的 release note、code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4767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icrosoft JhengHei"/>
              </a:rPr>
              <a:t>🤖 Claude Code（Agent）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8046720" cy="237744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300" b="0" dirty="0" err="1">
                <a:solidFill>
                  <a:srgbClr val="222222"/>
                </a:solidFill>
                <a:latin typeface="Microsoft JhengHei"/>
              </a:rPr>
              <a:t>已在</a:t>
            </a:r>
            <a:r>
              <a:rPr sz="1300" b="0" dirty="0">
                <a:solidFill>
                  <a:srgbClr val="222222"/>
                </a:solidFill>
                <a:latin typeface="Microsoft JhengHei"/>
              </a:rPr>
              <a:t> .</a:t>
            </a:r>
            <a:r>
              <a:rPr sz="1300" b="0" dirty="0" err="1">
                <a:solidFill>
                  <a:srgbClr val="222222"/>
                </a:solidFill>
                <a:latin typeface="Microsoft JhengHei"/>
              </a:rPr>
              <a:t>claude</a:t>
            </a:r>
            <a:r>
              <a:rPr sz="1300" b="0" dirty="0">
                <a:solidFill>
                  <a:srgbClr val="222222"/>
                </a:solidFill>
                <a:latin typeface="Microsoft JhengHei"/>
              </a:rPr>
              <a:t>/skills/ </a:t>
            </a:r>
            <a:r>
              <a:rPr sz="1300" b="0" dirty="0" err="1">
                <a:solidFill>
                  <a:srgbClr val="222222"/>
                </a:solidFill>
                <a:latin typeface="Microsoft JhengHei"/>
              </a:rPr>
              <a:t>建立</a:t>
            </a:r>
            <a:r>
              <a:rPr sz="1300" b="0" dirty="0">
                <a:solidFill>
                  <a:srgbClr val="222222"/>
                </a:solidFill>
                <a:latin typeface="Microsoft JhengHei"/>
              </a:rPr>
              <a:t> 6 個 Skill：</a:t>
            </a:r>
          </a:p>
          <a:p>
            <a:pPr algn="l"/>
            <a:r>
              <a:rPr sz="1300" b="0" dirty="0">
                <a:solidFill>
                  <a:srgbClr val="2E6DB4"/>
                </a:solidFill>
                <a:latin typeface="Microsoft JhengHei"/>
              </a:rPr>
              <a:t>【</a:t>
            </a:r>
            <a:r>
              <a:rPr sz="1300" b="0" dirty="0" err="1">
                <a:solidFill>
                  <a:srgbClr val="2E6DB4"/>
                </a:solidFill>
                <a:latin typeface="Microsoft JhengHei"/>
              </a:rPr>
              <a:t>SmartQC</a:t>
            </a:r>
            <a:r>
              <a:rPr sz="1300" b="0" dirty="0">
                <a:solidFill>
                  <a:srgbClr val="2E6DB4"/>
                </a:solidFill>
                <a:latin typeface="Microsoft JhengHei"/>
              </a:rPr>
              <a:t> </a:t>
            </a:r>
            <a:r>
              <a:rPr sz="1300" b="0" dirty="0" err="1">
                <a:solidFill>
                  <a:srgbClr val="2E6DB4"/>
                </a:solidFill>
                <a:latin typeface="Microsoft JhengHei"/>
              </a:rPr>
              <a:t>操作類</a:t>
            </a:r>
            <a:r>
              <a:rPr sz="1300" b="0" dirty="0">
                <a:solidFill>
                  <a:srgbClr val="2E6DB4"/>
                </a:solidFill>
                <a:latin typeface="Microsoft JhengHei"/>
              </a:rPr>
              <a:t>】</a:t>
            </a:r>
          </a:p>
          <a:p>
            <a:pPr algn="l"/>
            <a:r>
              <a:rPr sz="1300" b="0" dirty="0">
                <a:solidFill>
                  <a:srgbClr val="2E7D32"/>
                </a:solidFill>
                <a:latin typeface="Microsoft JhengHei"/>
              </a:rPr>
              <a:t>  /</a:t>
            </a:r>
            <a:r>
              <a:rPr sz="1300" b="0" dirty="0" err="1">
                <a:solidFill>
                  <a:srgbClr val="2E7D32"/>
                </a:solidFill>
                <a:latin typeface="Microsoft JhengHei"/>
              </a:rPr>
              <a:t>smartqc</a:t>
            </a:r>
            <a:r>
              <a:rPr sz="1300" b="0" dirty="0">
                <a:solidFill>
                  <a:srgbClr val="2E7D32"/>
                </a:solidFill>
                <a:latin typeface="Microsoft JhengHei"/>
              </a:rPr>
              <a:t>-report </a:t>
            </a:r>
            <a:r>
              <a:rPr sz="1300" b="0" dirty="0" err="1">
                <a:solidFill>
                  <a:srgbClr val="2E7D32"/>
                </a:solidFill>
                <a:latin typeface="Microsoft JhengHei"/>
              </a:rPr>
              <a:t>出日報</a:t>
            </a:r>
            <a:r>
              <a:rPr sz="1300" b="0" dirty="0">
                <a:solidFill>
                  <a:srgbClr val="2E7D32"/>
                </a:solidFill>
                <a:latin typeface="Microsoft JhengHei"/>
              </a:rPr>
              <a:t>   /</a:t>
            </a:r>
            <a:r>
              <a:rPr sz="1300" b="0" dirty="0" err="1">
                <a:solidFill>
                  <a:srgbClr val="2E7D32"/>
                </a:solidFill>
                <a:latin typeface="Microsoft JhengHei"/>
              </a:rPr>
              <a:t>smartqc</a:t>
            </a:r>
            <a:r>
              <a:rPr sz="1300" b="0" dirty="0">
                <a:solidFill>
                  <a:srgbClr val="2E7D32"/>
                </a:solidFill>
                <a:latin typeface="Microsoft JhengHei"/>
              </a:rPr>
              <a:t>-run </a:t>
            </a:r>
            <a:r>
              <a:rPr sz="1300" b="0" dirty="0" err="1">
                <a:solidFill>
                  <a:srgbClr val="2E7D32"/>
                </a:solidFill>
                <a:latin typeface="Microsoft JhengHei"/>
              </a:rPr>
              <a:t>啟動驗證</a:t>
            </a:r>
            <a:endParaRPr sz="1300" b="0" dirty="0">
              <a:solidFill>
                <a:srgbClr val="2E7D32"/>
              </a:solidFill>
              <a:latin typeface="Microsoft JhengHei"/>
            </a:endParaRPr>
          </a:p>
          <a:p>
            <a:pPr algn="l"/>
            <a:r>
              <a:rPr sz="1300" b="0" dirty="0">
                <a:solidFill>
                  <a:srgbClr val="2E7D32"/>
                </a:solidFill>
                <a:latin typeface="Microsoft JhengHei"/>
              </a:rPr>
              <a:t>  /</a:t>
            </a:r>
            <a:r>
              <a:rPr sz="1300" b="0" dirty="0" err="1">
                <a:solidFill>
                  <a:srgbClr val="2E7D32"/>
                </a:solidFill>
                <a:latin typeface="Microsoft JhengHei"/>
              </a:rPr>
              <a:t>smartqc</a:t>
            </a:r>
            <a:r>
              <a:rPr sz="1300" b="0" dirty="0">
                <a:solidFill>
                  <a:srgbClr val="2E7D32"/>
                </a:solidFill>
                <a:latin typeface="Microsoft JhengHei"/>
              </a:rPr>
              <a:t>-accuracy </a:t>
            </a:r>
            <a:r>
              <a:rPr sz="1300" b="0" dirty="0" err="1">
                <a:solidFill>
                  <a:srgbClr val="2E7D32"/>
                </a:solidFill>
                <a:latin typeface="Microsoft JhengHei"/>
              </a:rPr>
              <a:t>測準確度</a:t>
            </a:r>
            <a:r>
              <a:rPr sz="1300" b="0" dirty="0">
                <a:solidFill>
                  <a:srgbClr val="2E7D32"/>
                </a:solidFill>
                <a:latin typeface="Microsoft JhengHei"/>
              </a:rPr>
              <a:t>  /</a:t>
            </a:r>
            <a:r>
              <a:rPr sz="1300" b="0" dirty="0" err="1">
                <a:solidFill>
                  <a:srgbClr val="2E7D32"/>
                </a:solidFill>
                <a:latin typeface="Microsoft JhengHei"/>
              </a:rPr>
              <a:t>smartqc</a:t>
            </a:r>
            <a:r>
              <a:rPr sz="1300" b="0" dirty="0">
                <a:solidFill>
                  <a:srgbClr val="2E7D32"/>
                </a:solidFill>
                <a:latin typeface="Microsoft JhengHei"/>
              </a:rPr>
              <a:t>-add-defect </a:t>
            </a:r>
            <a:r>
              <a:rPr sz="1300" b="0" dirty="0" err="1">
                <a:solidFill>
                  <a:srgbClr val="2E7D32"/>
                </a:solidFill>
                <a:latin typeface="Microsoft JhengHei"/>
              </a:rPr>
              <a:t>加瑕疵類型</a:t>
            </a:r>
            <a:endParaRPr sz="1300" b="0" dirty="0">
              <a:solidFill>
                <a:srgbClr val="2E7D32"/>
              </a:solidFill>
              <a:latin typeface="Microsoft JhengHei"/>
            </a:endParaRPr>
          </a:p>
          <a:p>
            <a:pPr algn="l"/>
            <a:r>
              <a:rPr sz="1300" b="0" dirty="0">
                <a:solidFill>
                  <a:srgbClr val="2E6DB4"/>
                </a:solidFill>
                <a:latin typeface="Microsoft JhengHei"/>
              </a:rPr>
              <a:t>【</a:t>
            </a:r>
            <a:r>
              <a:rPr sz="1300" b="0" dirty="0" err="1">
                <a:solidFill>
                  <a:srgbClr val="2E6DB4"/>
                </a:solidFill>
                <a:latin typeface="Microsoft JhengHei"/>
              </a:rPr>
              <a:t>開發流程類</a:t>
            </a:r>
            <a:r>
              <a:rPr sz="1300" b="0" dirty="0">
                <a:solidFill>
                  <a:srgbClr val="2E6DB4"/>
                </a:solidFill>
                <a:latin typeface="Microsoft JhengHei"/>
              </a:rPr>
              <a:t>】</a:t>
            </a:r>
          </a:p>
          <a:p>
            <a:pPr algn="l"/>
            <a:r>
              <a:rPr sz="1300" b="0" dirty="0">
                <a:solidFill>
                  <a:srgbClr val="E67E22"/>
                </a:solidFill>
                <a:latin typeface="Microsoft JhengHei"/>
              </a:rPr>
              <a:t>  /release-note    </a:t>
            </a:r>
            <a:r>
              <a:rPr sz="1300" b="0" dirty="0" err="1">
                <a:solidFill>
                  <a:srgbClr val="E67E22"/>
                </a:solidFill>
                <a:latin typeface="Microsoft JhengHei"/>
              </a:rPr>
              <a:t>進版自動產發行說明</a:t>
            </a:r>
            <a:endParaRPr sz="1300" b="0" dirty="0">
              <a:solidFill>
                <a:srgbClr val="E67E22"/>
              </a:solidFill>
              <a:latin typeface="Microsoft JhengHei"/>
            </a:endParaRPr>
          </a:p>
          <a:p>
            <a:pPr algn="l"/>
            <a:r>
              <a:rPr sz="1300" b="0" dirty="0">
                <a:solidFill>
                  <a:srgbClr val="E67E22"/>
                </a:solidFill>
                <a:latin typeface="Microsoft JhengHei"/>
              </a:rPr>
              <a:t>  /</a:t>
            </a:r>
            <a:r>
              <a:rPr sz="1300" b="0" dirty="0" err="1">
                <a:solidFill>
                  <a:srgbClr val="E67E22"/>
                </a:solidFill>
                <a:latin typeface="Microsoft JhengHei"/>
              </a:rPr>
              <a:t>smartqc</a:t>
            </a:r>
            <a:r>
              <a:rPr sz="1300" b="0" dirty="0">
                <a:solidFill>
                  <a:srgbClr val="E67E22"/>
                </a:solidFill>
                <a:latin typeface="Microsoft JhengHei"/>
              </a:rPr>
              <a:t>-review  </a:t>
            </a:r>
            <a:r>
              <a:rPr sz="1300" b="0" dirty="0" err="1">
                <a:solidFill>
                  <a:srgbClr val="E67E22"/>
                </a:solidFill>
                <a:latin typeface="Microsoft JhengHei"/>
              </a:rPr>
              <a:t>提交前自我審查</a:t>
            </a:r>
            <a:r>
              <a:rPr sz="1300" b="0" dirty="0">
                <a:solidFill>
                  <a:srgbClr val="E67E22"/>
                </a:solidFill>
                <a:latin typeface="Microsoft JhengHei"/>
              </a:rPr>
              <a:t> (抓 bug/</a:t>
            </a:r>
            <a:r>
              <a:rPr sz="1300" b="0" dirty="0" err="1">
                <a:solidFill>
                  <a:srgbClr val="E67E22"/>
                </a:solidFill>
                <a:latin typeface="Microsoft JhengHei"/>
              </a:rPr>
              <a:t>壞味道</a:t>
            </a:r>
            <a:r>
              <a:rPr sz="1300" b="0" dirty="0">
                <a:solidFill>
                  <a:srgbClr val="E67E22"/>
                </a:solidFill>
                <a:latin typeface="Microsoft JhengHei"/>
              </a:rPr>
              <a:t>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JhengHei"/>
              </a:rPr>
              <a:t>一個 Skill 長什麼樣？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AF1FB"/>
                </a:solidFill>
                <a:latin typeface="Microsoft JhengHei"/>
              </a:rPr>
              <a:t>就是一個 SKILL.md 純文字檔 — 工程師自己就能寫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7772400" cy="51206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t"/>
          <a:lstStyle/>
          <a:p>
            <a:pPr algn="l"/>
            <a:r>
              <a:rPr sz="1300" b="0">
                <a:solidFill>
                  <a:srgbClr val="888888"/>
                </a:solidFill>
                <a:latin typeface="Consolas"/>
              </a:rPr>
              <a:t>smartqc-report / SKILL.md</a:t>
            </a:r>
          </a:p>
          <a:p>
            <a:pPr algn="l"/>
            <a:r>
              <a:rPr sz="1300" b="0">
                <a:solidFill>
                  <a:srgbClr val="D4D4D4"/>
                </a:solidFill>
                <a:latin typeface="Consolas"/>
              </a:rPr>
              <a:t>---</a:t>
            </a:r>
          </a:p>
          <a:p>
            <a:pPr algn="l"/>
            <a:r>
              <a:rPr sz="1300" b="0">
                <a:solidFill>
                  <a:srgbClr val="569CD6"/>
                </a:solidFill>
                <a:latin typeface="Consolas"/>
              </a:rPr>
              <a:t>name: smartqc-report</a:t>
            </a:r>
          </a:p>
          <a:p>
            <a:pPr algn="l"/>
            <a:r>
              <a:rPr sz="1300" b="0">
                <a:solidFill>
                  <a:srgbClr val="CE9178"/>
                </a:solidFill>
                <a:latin typeface="Consolas"/>
              </a:rPr>
              <a:t>description: 產生今日品質日報。當使用者說</a:t>
            </a:r>
          </a:p>
          <a:p>
            <a:pPr algn="l"/>
            <a:r>
              <a:rPr sz="1300" b="0">
                <a:solidFill>
                  <a:srgbClr val="CE9178"/>
                </a:solidFill>
                <a:latin typeface="Consolas"/>
              </a:rPr>
              <a:t>  『出日報』『做報表』或要 Excel/PDF 時使用。</a:t>
            </a:r>
          </a:p>
          <a:p>
            <a:pPr algn="l"/>
            <a:r>
              <a:rPr sz="1300" b="0">
                <a:solidFill>
                  <a:srgbClr val="D4D4D4"/>
                </a:solidFill>
                <a:latin typeface="Consolas"/>
              </a:rPr>
              <a:t>---</a:t>
            </a:r>
          </a:p>
          <a:p>
            <a:pPr algn="l"/>
            <a:endParaRPr sz="1300" b="0">
              <a:solidFill>
                <a:srgbClr val="D4D4D4"/>
              </a:solidFill>
              <a:latin typeface="Consolas"/>
            </a:endParaRPr>
          </a:p>
          <a:p>
            <a:pPr algn="l"/>
            <a:r>
              <a:rPr sz="1300" b="0">
                <a:solidFill>
                  <a:srgbClr val="569CD6"/>
                </a:solidFill>
                <a:latin typeface="Consolas"/>
              </a:rPr>
              <a:t># SmartQC 品質日報產生</a:t>
            </a:r>
          </a:p>
          <a:p>
            <a:pPr algn="l"/>
            <a:r>
              <a:rPr sz="1300" b="0">
                <a:solidFill>
                  <a:srgbClr val="569CD6"/>
                </a:solidFill>
                <a:latin typeface="Consolas"/>
              </a:rPr>
              <a:t>## 執行步驟</a:t>
            </a:r>
          </a:p>
          <a:p>
            <a:pPr algn="l"/>
            <a:r>
              <a:rPr sz="1300" b="0">
                <a:solidFill>
                  <a:srgbClr val="D4D4D4"/>
                </a:solidFill>
                <a:latin typeface="Consolas"/>
              </a:rPr>
              <a:t>1. cd app</a:t>
            </a:r>
          </a:p>
          <a:p>
            <a:pPr algn="l"/>
            <a:r>
              <a:rPr sz="1300" b="0">
                <a:solidFill>
                  <a:srgbClr val="D4D4D4"/>
                </a:solidFill>
                <a:latin typeface="Consolas"/>
              </a:rPr>
              <a:t>2. python report.py</a:t>
            </a:r>
          </a:p>
          <a:p>
            <a:pPr algn="l"/>
            <a:r>
              <a:rPr sz="1300" b="0">
                <a:solidFill>
                  <a:srgbClr val="D4D4D4"/>
                </a:solidFill>
                <a:latin typeface="Consolas"/>
              </a:rPr>
              <a:t>3. 確認產出 app/reports/ 日報_日期.xlsx/pdf</a:t>
            </a:r>
          </a:p>
          <a:p>
            <a:pPr algn="l"/>
            <a:r>
              <a:rPr sz="1300" b="0">
                <a:solidFill>
                  <a:srgbClr val="D4D4D4"/>
                </a:solidFill>
                <a:latin typeface="Consolas"/>
              </a:rPr>
              <a:t>4. 回報：檔名、瑕疵率、NG 數量</a:t>
            </a:r>
          </a:p>
          <a:p>
            <a:pPr algn="l"/>
            <a:endParaRPr sz="1300" b="0">
              <a:solidFill>
                <a:srgbClr val="D4D4D4"/>
              </a:solidFill>
              <a:latin typeface="Consolas"/>
            </a:endParaRPr>
          </a:p>
          <a:p>
            <a:pPr algn="l"/>
            <a:r>
              <a:rPr sz="1300" b="0">
                <a:solidFill>
                  <a:srgbClr val="569CD6"/>
                </a:solidFill>
                <a:latin typeface="Consolas"/>
              </a:rPr>
              <a:t>## 注意</a:t>
            </a:r>
          </a:p>
          <a:p>
            <a:pPr algn="l"/>
            <a:r>
              <a:rPr sz="1300" b="0">
                <a:solidFill>
                  <a:srgbClr val="6A9955"/>
                </a:solidFill>
                <a:latin typeface="Consolas"/>
              </a:rPr>
              <a:t>- 當日無資料仍會產表（顯示本日無瑕疵）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234440"/>
            <a:ext cx="3657600" cy="45720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  <a:latin typeface="Microsoft JhengHei"/>
              </a:rPr>
              <a:t>三個組成部分</a:t>
            </a:r>
          </a:p>
          <a:p>
            <a:pPr algn="l"/>
            <a:endParaRPr sz="1400" b="0">
              <a:solidFill>
                <a:srgbClr val="1F3A5F"/>
              </a:solidFill>
              <a:latin typeface="Microsoft JhengHei"/>
            </a:endParaRPr>
          </a:p>
          <a:p>
            <a:pPr algn="l"/>
            <a:r>
              <a:rPr sz="1400" b="0">
                <a:solidFill>
                  <a:srgbClr val="569CD6"/>
                </a:solidFill>
                <a:latin typeface="Microsoft JhengHei"/>
              </a:rPr>
              <a:t>① name = 指令名稱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JhengHei"/>
              </a:rPr>
              <a:t>    打 /smartqc-report 觸發</a:t>
            </a:r>
          </a:p>
          <a:p>
            <a:pPr algn="l"/>
            <a:endParaRPr sz="1400" b="0">
              <a:solidFill>
                <a:srgbClr val="222222"/>
              </a:solidFill>
              <a:latin typeface="Microsoft JhengHei"/>
            </a:endParaRPr>
          </a:p>
          <a:p>
            <a:pPr algn="l"/>
            <a:r>
              <a:rPr sz="1400" b="0">
                <a:solidFill>
                  <a:srgbClr val="B56A2E"/>
                </a:solidFill>
                <a:latin typeface="Microsoft JhengHei"/>
              </a:rPr>
              <a:t>② description = 何時用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JhengHei"/>
              </a:rPr>
              <a:t>    讓 AI 聽懂人話自動觸發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Microsoft JhengHei"/>
              </a:rPr>
              <a:t>    (不是關鍵字，是語意說明)</a:t>
            </a:r>
          </a:p>
          <a:p>
            <a:pPr algn="l"/>
            <a:endParaRPr sz="1400" b="0">
              <a:solidFill>
                <a:srgbClr val="555555"/>
              </a:solidFill>
              <a:latin typeface="Microsoft JhengHei"/>
            </a:endParaRPr>
          </a:p>
          <a:p>
            <a:pPr algn="l"/>
            <a:r>
              <a:rPr sz="1400" b="0">
                <a:solidFill>
                  <a:srgbClr val="2E7D32"/>
                </a:solidFill>
                <a:latin typeface="Microsoft JhengHei"/>
              </a:rPr>
              <a:t>③ 正文 = 怎麼做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JhengHei"/>
              </a:rPr>
              <a:t>    實際執行的步驟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Microsoft JhengHei"/>
              </a:rPr>
              <a:t>沒有程式、沒有設定 — 就是一個純文字檔。工程師花 5 分鐘就能寫一個自己的 Skill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JhengHei"/>
              </a:rPr>
              <a:t>Skill 實際跑起來的樣子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AF1FB"/>
                </a:solidFill>
                <a:latin typeface="Microsoft JhengHei"/>
              </a:rPr>
              <a:t>以 /smartqc-review（提交前自我審查）為例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850392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E6DB4"/>
                </a:solidFill>
                <a:latin typeface="Microsoft JhengHei"/>
              </a:rPr>
              <a:t>👤 開發者（你）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095" y="1143000"/>
            <a:ext cx="3108960" cy="548640"/>
          </a:xfrm>
          <a:prstGeom prst="round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/smartqc-review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479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icrosoft JhengHei"/>
              </a:rPr>
              <a:t>🤖 Claude Code（Agent）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789920" cy="237744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JhengHei"/>
              </a:rPr>
              <a:t>我依 SKILL.md 定義的檢查項審查近期程式，結果：</a:t>
            </a:r>
          </a:p>
          <a:p>
            <a:pPr algn="l"/>
            <a:r>
              <a:rPr sz="1400" b="0">
                <a:solidFill>
                  <a:srgbClr val="C0392B"/>
                </a:solidFill>
                <a:latin typeface="Microsoft JhengHei"/>
              </a:rPr>
              <a:t>🔴 必修  app.py:26  secret_key 寫死 → 改讀環境變數</a:t>
            </a:r>
          </a:p>
          <a:p>
            <a:pPr algn="l"/>
            <a:r>
              <a:rPr sz="1400" b="0">
                <a:solidFill>
                  <a:srgbClr val="E67E22"/>
                </a:solidFill>
                <a:latin typeface="Microsoft JhengHei"/>
              </a:rPr>
              <a:t>🟡 建議  watcher.py  搬檔失敗靜默吞掉 → 建議加 log</a:t>
            </a:r>
          </a:p>
          <a:p>
            <a:pPr algn="l"/>
            <a:r>
              <a:rPr sz="1400" b="0">
                <a:solidFill>
                  <a:srgbClr val="E67E22"/>
                </a:solidFill>
                <a:latin typeface="Microsoft JhengHei"/>
              </a:rPr>
              <a:t>🟡 建議  detector.py  API 無逾時設定 → 建議加 timeout</a:t>
            </a:r>
          </a:p>
          <a:p>
            <a:pPr algn="l"/>
            <a:r>
              <a:rPr sz="1400" b="0">
                <a:solidFill>
                  <a:srgbClr val="2E7D32"/>
                </a:solidFill>
                <a:latin typeface="Microsoft JhengHei"/>
              </a:rPr>
              <a:t>🟢 優點  判讀核心抽離得當；等檔案寫完才判讀的設計正確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1990</Words>
  <Application>Microsoft Office PowerPoint</Application>
  <PresentationFormat>寬螢幕</PresentationFormat>
  <Paragraphs>333</Paragraphs>
  <Slides>22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8" baseType="lpstr">
      <vt:lpstr>Microsoft JhengHei</vt:lpstr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Hung Fu Lin 林鴻富</cp:lastModifiedBy>
  <cp:revision>8</cp:revision>
  <dcterms:created xsi:type="dcterms:W3CDTF">2013-01-27T09:14:16Z</dcterms:created>
  <dcterms:modified xsi:type="dcterms:W3CDTF">2026-07-03T02:17:23Z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4c45cfa-694f-412f-9c5a-68edc6dc1f4f_Enabled">
    <vt:lpwstr>true</vt:lpwstr>
  </property>
  <property fmtid="{D5CDD505-2E9C-101B-9397-08002B2CF9AE}" pid="3" name="MSIP_Label_24c45cfa-694f-412f-9c5a-68edc6dc1f4f_SetDate">
    <vt:lpwstr>2026-06-18T03:15:05Z</vt:lpwstr>
  </property>
  <property fmtid="{D5CDD505-2E9C-101B-9397-08002B2CF9AE}" pid="4" name="MSIP_Label_24c45cfa-694f-412f-9c5a-68edc6dc1f4f_Method">
    <vt:lpwstr>Privileged</vt:lpwstr>
  </property>
  <property fmtid="{D5CDD505-2E9C-101B-9397-08002B2CF9AE}" pid="5" name="MSIP_Label_24c45cfa-694f-412f-9c5a-68edc6dc1f4f_Name">
    <vt:lpwstr>公開</vt:lpwstr>
  </property>
  <property fmtid="{D5CDD505-2E9C-101B-9397-08002B2CF9AE}" pid="6" name="MSIP_Label_24c45cfa-694f-412f-9c5a-68edc6dc1f4f_SiteId">
    <vt:lpwstr>5da1b511-8692-4584-a1a3-33c1c278c305</vt:lpwstr>
  </property>
  <property fmtid="{D5CDD505-2E9C-101B-9397-08002B2CF9AE}" pid="7" name="MSIP_Label_24c45cfa-694f-412f-9c5a-68edc6dc1f4f_ActionId">
    <vt:lpwstr>f2a90290-0d1f-4585-886d-102cce2658c6</vt:lpwstr>
  </property>
  <property fmtid="{D5CDD505-2E9C-101B-9397-08002B2CF9AE}" pid="8" name="MSIP_Label_24c45cfa-694f-412f-9c5a-68edc6dc1f4f_ContentBits">
    <vt:lpwstr>0</vt:lpwstr>
  </property>
  <property fmtid="{D5CDD505-2E9C-101B-9397-08002B2CF9AE}" pid="9" name="MSIP_Label_24c45cfa-694f-412f-9c5a-68edc6dc1f4f_Tag">
    <vt:lpwstr>10, 0, 1, 1</vt:lpwstr>
  </property>
</Properties>
</file>