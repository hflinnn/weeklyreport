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27"/>
  </p:notesMasterIdLst>
  <p:handoutMasterIdLst>
    <p:handoutMasterId r:id="rId28"/>
  </p:handoutMasterIdLst>
  <p:sldIdLst>
    <p:sldId id="258" r:id="rId7"/>
    <p:sldId id="292" r:id="rId8"/>
    <p:sldId id="365" r:id="rId9"/>
    <p:sldId id="260" r:id="rId10"/>
    <p:sldId id="262" r:id="rId11"/>
    <p:sldId id="263" r:id="rId12"/>
    <p:sldId id="377" r:id="rId13"/>
    <p:sldId id="378" r:id="rId14"/>
    <p:sldId id="376" r:id="rId15"/>
    <p:sldId id="375" r:id="rId16"/>
    <p:sldId id="374" r:id="rId17"/>
    <p:sldId id="364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63" r:id="rId26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3" autoAdjust="0"/>
    <p:restoredTop sz="81651" autoAdjust="0"/>
  </p:normalViewPr>
  <p:slideViewPr>
    <p:cSldViewPr snapToGrid="0" snapToObjects="1">
      <p:cViewPr varScale="1">
        <p:scale>
          <a:sx n="82" d="100"/>
          <a:sy n="82" d="100"/>
        </p:scale>
        <p:origin x="1236" y="84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86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June 26,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June 26,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6" Type="http://schemas.openxmlformats.org/officeDocument/2006/relationships/theme" Target="../theme/theme2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  <p:sldLayoutId id="2147483729" r:id="rId15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20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3322487"/>
            <a:ext cx="13408136" cy="1180533"/>
          </a:xfrm>
        </p:spPr>
        <p:txBody>
          <a:bodyPr/>
          <a:lstStyle/>
          <a:p>
            <a:r>
              <a:rPr lang="en-US" sz="8500" dirty="0"/>
              <a:t>Weekly Report – 2026 WK26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26</a:t>
            </a:r>
            <a:r>
              <a:rPr lang="en-US" altLang="zh-TW" baseline="30000" dirty="0"/>
              <a:t>th</a:t>
            </a:r>
            <a:r>
              <a:rPr lang="en-US" altLang="zh-TW" dirty="0"/>
              <a:t> June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9745150"/>
              </p:ext>
            </p:extLst>
          </p:nvPr>
        </p:nvGraphicFramePr>
        <p:xfrm>
          <a:off x="727671" y="1372926"/>
          <a:ext cx="13347362" cy="6125051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875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6/1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Modify RX-Blocking translation rule. 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6/22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6/30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Analysis SFIS sending fail issue for WM2305_NR.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-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IOException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issue, fixed at v3.1.2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Develop Octavia tool v3.3.0 and release beta version on 6/25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- 1 BDID/FUSE Level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驗證失敗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GUI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常駐警告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- 2 MD5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驗證改為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Contains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比對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- 3 NR1 Fixture SFIS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傳送格式調整（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CHKROUT Step1 + TESTRES Step2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加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TEST_ID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，取消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Step8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）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- 4 BDID/FUSE Level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驗證失敗保護機制（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_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hasBdidFuseFail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flag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）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- 5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關閉程式時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SFIS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資料未傳完提示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- 6 T1 Fixture Step8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僅於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FAIL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時產生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 - 7 T1 Fixture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上傳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METADATA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（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FIXTURE_ID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T1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）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6/15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6/18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6/18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6/15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6/25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Architecture Design — Defined a modular 4-layer architecture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Manager Responsibility Specification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DUT Connection Topology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Unified Internal Message Format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 DUT plug in layer.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Study the code flow.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452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BE2C70-05A0-50BF-8911-A6E941F27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F4D79D-3F8F-4C2F-BD86-8FF7B8E8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38" y="805400"/>
            <a:ext cx="7909120" cy="365036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760D8F6-61DA-DB90-D5DB-33F4FD5C9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032" y="805400"/>
            <a:ext cx="5163271" cy="5772956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A434CA9-951D-AC34-C8BB-9FD7B29A116B}"/>
              </a:ext>
            </a:extLst>
          </p:cNvPr>
          <p:cNvSpPr/>
          <p:nvPr/>
        </p:nvSpPr>
        <p:spPr>
          <a:xfrm>
            <a:off x="8723031" y="1999281"/>
            <a:ext cx="5163271" cy="1704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159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FFFFFF"/>
                </a:solidFill>
              </a:rPr>
              <a:t>PLUGIN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五層架構 — Plugin Layer 介於 Application 與 Orchestration 之間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DUT Plugin Architecture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535" y="1497076"/>
            <a:ext cx="9410192" cy="941019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8" name="TextBox 7"/>
          <p:cNvSpPr txBox="1"/>
          <p:nvPr/>
        </p:nvSpPr>
        <p:spPr>
          <a:xfrm>
            <a:off x="588936" y="1556484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8936" y="1946199"/>
            <a:ext cx="9089390" cy="27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9">
                <a:solidFill>
                  <a:srgbClr val="CCE5E5"/>
                </a:solidFill>
              </a:rPr>
              <a:t>ApplicationManager  ·  UIManager  ·  SessionManager  ·  OutputManager  ·  LogManager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2595" y="1497076"/>
            <a:ext cx="3742690" cy="941019"/>
          </a:xfrm>
          <a:prstGeom prst="rect">
            <a:avLst/>
          </a:prstGeom>
          <a:solidFill>
            <a:srgbClr val="FFFFFF"/>
          </a:solidFill>
          <a:ln w="19050">
            <a:solidFill>
              <a:srgbClr val="2E40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TextBox 10"/>
          <p:cNvSpPr txBox="1"/>
          <p:nvPr/>
        </p:nvSpPr>
        <p:spPr>
          <a:xfrm>
            <a:off x="10212996" y="1615891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使用者介面、工作階段、報告輸出、SFIS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2829" y="2373935"/>
            <a:ext cx="53467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2">
                <a:solidFill>
                  <a:srgbClr val="888888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535" y="2566416"/>
            <a:ext cx="9410192" cy="941019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4" name="TextBox 13"/>
          <p:cNvSpPr txBox="1"/>
          <p:nvPr/>
        </p:nvSpPr>
        <p:spPr>
          <a:xfrm>
            <a:off x="588936" y="2625824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 dirty="0">
                <a:solidFill>
                  <a:srgbClr val="FFFFFF"/>
                </a:solidFill>
              </a:rPr>
              <a:t>PLUGIN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936" y="3015539"/>
            <a:ext cx="9089390" cy="27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9">
                <a:solidFill>
                  <a:srgbClr val="CCE5E5"/>
                </a:solidFill>
              </a:rPr>
              <a:t>IDutPlugin（抽象介面）  ·  Hd2SdbOlPlugin  ·  HtolPlugin  · 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2595" y="2566416"/>
            <a:ext cx="3742690" cy="941019"/>
          </a:xfrm>
          <a:prstGeom prst="rect">
            <a:avLst/>
          </a:prstGeom>
          <a:solidFill>
            <a:srgbClr val="FFFFFF"/>
          </a:solidFill>
          <a:ln w="19050">
            <a:solidFill>
              <a:srgbClr val="048A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7" name="TextBox 16"/>
          <p:cNvSpPr txBox="1"/>
          <p:nvPr/>
        </p:nvSpPr>
        <p:spPr>
          <a:xfrm>
            <a:off x="10212996" y="3009449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dirty="0">
                <a:solidFill>
                  <a:srgbClr val="222222"/>
                </a:solidFill>
              </a:rPr>
              <a:t>DUT </a:t>
            </a:r>
            <a:r>
              <a:rPr sz="1286" dirty="0" err="1">
                <a:solidFill>
                  <a:srgbClr val="222222"/>
                </a:solidFill>
              </a:rPr>
              <a:t>專屬邏輯封裝在此</a:t>
            </a:r>
            <a:endParaRPr sz="1286" dirty="0">
              <a:solidFill>
                <a:srgbClr val="22222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12829" y="3443275"/>
            <a:ext cx="53467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2">
                <a:solidFill>
                  <a:srgbClr val="888888"/>
                </a:solidFill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535" y="3635756"/>
            <a:ext cx="9410192" cy="941019"/>
          </a:xfrm>
          <a:prstGeom prst="rect">
            <a:avLst/>
          </a:prstGeom>
          <a:solidFill>
            <a:srgbClr val="1A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0" name="TextBox 19"/>
          <p:cNvSpPr txBox="1"/>
          <p:nvPr/>
        </p:nvSpPr>
        <p:spPr>
          <a:xfrm>
            <a:off x="588936" y="3695164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FFFFFF"/>
                </a:solidFill>
              </a:rPr>
              <a:t>ORCHESTRATION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936" y="4084879"/>
            <a:ext cx="9089390" cy="27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9">
                <a:solidFill>
                  <a:srgbClr val="CCE5E5"/>
                </a:solidFill>
              </a:rPr>
              <a:t>TestFlowManager  ·  TestProfileManager  ·  DriverRegistry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2595" y="3635756"/>
            <a:ext cx="3742690" cy="941019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3" name="TextBox 22"/>
          <p:cNvSpPr txBox="1"/>
          <p:nvPr/>
        </p:nvSpPr>
        <p:spPr>
          <a:xfrm>
            <a:off x="10212996" y="3754571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讀 JSON 設定，執行步驟，Pass/Fail 評估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2829" y="4512615"/>
            <a:ext cx="53467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2">
                <a:solidFill>
                  <a:srgbClr val="888888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535" y="4705096"/>
            <a:ext cx="9410192" cy="941019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6" name="TextBox 25"/>
          <p:cNvSpPr txBox="1"/>
          <p:nvPr/>
        </p:nvSpPr>
        <p:spPr>
          <a:xfrm>
            <a:off x="588936" y="4764504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FFFFFF"/>
                </a:solidFill>
              </a:rPr>
              <a:t>DRIVER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8936" y="5154219"/>
            <a:ext cx="9089390" cy="27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9">
                <a:solidFill>
                  <a:srgbClr val="CCE5E5"/>
                </a:solidFill>
              </a:rPr>
              <a:t>EquipmentDriver  ·  CommunicationManager  ·  Transport（Ethernet/GPIB/USB）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2595" y="4705096"/>
            <a:ext cx="3742690" cy="941019"/>
          </a:xfrm>
          <a:prstGeom prst="rect">
            <a:avLst/>
          </a:prstGeom>
          <a:solidFill>
            <a:srgbClr val="FFFFFF"/>
          </a:solidFill>
          <a:ln w="1905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9" name="TextBox 28"/>
          <p:cNvSpPr txBox="1"/>
          <p:nvPr/>
        </p:nvSpPr>
        <p:spPr>
          <a:xfrm>
            <a:off x="10212996" y="4823911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封裝儀器通訊，統一 execute(action, params)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2829" y="5581955"/>
            <a:ext cx="53467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2">
                <a:solidFill>
                  <a:srgbClr val="888888"/>
                </a:solidFill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535" y="5774436"/>
            <a:ext cx="9410192" cy="941019"/>
          </a:xfrm>
          <a:prstGeom prst="rect">
            <a:avLst/>
          </a:prstGeom>
          <a:solidFill>
            <a:srgbClr val="4E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2" name="TextBox 31"/>
          <p:cNvSpPr txBox="1"/>
          <p:nvPr/>
        </p:nvSpPr>
        <p:spPr>
          <a:xfrm>
            <a:off x="588936" y="5833844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FFFFFF"/>
                </a:solidFill>
              </a:rPr>
              <a:t>HARDWARE COMMUNICATION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8936" y="6223559"/>
            <a:ext cx="9089390" cy="27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9">
                <a:solidFill>
                  <a:srgbClr val="CCE5E5"/>
                </a:solidFill>
              </a:rPr>
              <a:t>儀器 / 設備 / DUT                Ethernet  ·  GPIB  ·  USB  ·  RS-232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2595" y="5774436"/>
            <a:ext cx="3742690" cy="941019"/>
          </a:xfrm>
          <a:prstGeom prst="rect">
            <a:avLst/>
          </a:prstGeom>
          <a:solidFill>
            <a:srgbClr val="FFFFFF"/>
          </a:solidFill>
          <a:ln w="19050">
            <a:solidFill>
              <a:srgbClr val="4E34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5" name="TextBox 34"/>
          <p:cNvSpPr txBox="1"/>
          <p:nvPr/>
        </p:nvSpPr>
        <p:spPr>
          <a:xfrm>
            <a:off x="10212996" y="5893252"/>
            <a:ext cx="3421888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22222"/>
                </a:solidFill>
              </a:rPr>
              <a:t>實體連線層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5068" y="2545029"/>
            <a:ext cx="9517126" cy="983793"/>
          </a:xfrm>
          <a:prstGeom prst="rect">
            <a:avLst/>
          </a:prstGeom>
          <a:noFill/>
          <a:ln w="31750">
            <a:solidFill>
              <a:srgbClr val="048A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7" name="TextBox 36"/>
          <p:cNvSpPr txBox="1"/>
          <p:nvPr/>
        </p:nvSpPr>
        <p:spPr>
          <a:xfrm>
            <a:off x="10212996" y="2726817"/>
            <a:ext cx="2138680" cy="27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69" b="1">
                <a:solidFill>
                  <a:srgbClr val="048A81"/>
                </a:solidFill>
              </a:rPr>
              <a:t>★ 新增層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8213C3E-4510-E739-2067-C2F15BB7161F}"/>
              </a:ext>
            </a:extLst>
          </p:cNvPr>
          <p:cNvSpPr/>
          <p:nvPr/>
        </p:nvSpPr>
        <p:spPr>
          <a:xfrm>
            <a:off x="321602" y="2497503"/>
            <a:ext cx="13505614" cy="112040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 dirty="0" err="1">
                <a:solidFill>
                  <a:srgbClr val="FFFFFF"/>
                </a:solidFill>
              </a:rPr>
              <a:t>ApplicationManager</a:t>
            </a:r>
            <a:r>
              <a:rPr sz="3274" b="1" dirty="0">
                <a:solidFill>
                  <a:srgbClr val="FFFFFF"/>
                </a:solidFill>
              </a:rPr>
              <a:t> </a:t>
            </a:r>
            <a:r>
              <a:rPr sz="3274" b="1" dirty="0" err="1">
                <a:solidFill>
                  <a:srgbClr val="FFFFFF"/>
                </a:solidFill>
              </a:rPr>
              <a:t>兩條路徑</a:t>
            </a:r>
            <a:endParaRPr sz="3274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有外掛 vs 原有 test_flow.json，向後完全相容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DUT Plugin Architecture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4433" y="1604010"/>
            <a:ext cx="3314954" cy="908939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20" b="1">
                <a:solidFill>
                  <a:srgbClr val="FFFFFF"/>
                </a:solidFill>
              </a:rPr>
              <a:t>ApplicationManager
.start(dut_sn)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103" y="2780284"/>
            <a:ext cx="2245614" cy="802005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20" b="1">
                <a:solidFill>
                  <a:srgbClr val="FFFFFF"/>
                </a:solidFill>
              </a:rPr>
              <a:t>plugin
存在？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2687" y="2908605"/>
            <a:ext cx="2459482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3" b="1">
                <a:solidFill>
                  <a:srgbClr val="2E7D32"/>
                </a:solidFill>
              </a:rPr>
              <a:t>Yes  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535" y="3796157"/>
            <a:ext cx="5774436" cy="3368421"/>
          </a:xfrm>
          <a:prstGeom prst="rect">
            <a:avLst/>
          </a:prstGeom>
          <a:solidFill>
            <a:srgbClr val="FFFFFF"/>
          </a:solidFill>
          <a:ln w="19050">
            <a:solidFill>
              <a:srgbClr val="048A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1" name="Rectangle 10"/>
          <p:cNvSpPr/>
          <p:nvPr/>
        </p:nvSpPr>
        <p:spPr>
          <a:xfrm>
            <a:off x="428535" y="3796157"/>
            <a:ext cx="5774436" cy="406349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TextBox 11"/>
          <p:cNvSpPr txBox="1"/>
          <p:nvPr/>
        </p:nvSpPr>
        <p:spPr>
          <a:xfrm>
            <a:off x="588936" y="3828237"/>
            <a:ext cx="534670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3" b="1">
                <a:solidFill>
                  <a:srgbClr val="FFFFFF"/>
                </a:solidFill>
              </a:rPr>
              <a:t>Plugin 路徑（新）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03" y="4330827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2E4057"/>
                </a:solidFill>
              </a:rPr>
              <a:t>plugin.expand_to_steps(dut_sn)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403" y="4801337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888888"/>
                </a:solidFill>
              </a:rPr>
              <a:t>  → steps list（外掛自己決定邏輯）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403" y="5271846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flow_name = plugin.display_name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403" y="5742356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TestFlowManager.run(steps, 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403" y="6212865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888888"/>
                </a:solidFill>
              </a:rPr>
              <a:t>  → SessionResult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651" y="2908605"/>
            <a:ext cx="213868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3" b="1">
                <a:solidFill>
                  <a:srgbClr val="888888"/>
                </a:solidFill>
              </a:rPr>
              <a:t>→  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0849" y="3796157"/>
            <a:ext cx="5774436" cy="3368421"/>
          </a:xfrm>
          <a:prstGeom prst="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0" name="Rectangle 19"/>
          <p:cNvSpPr/>
          <p:nvPr/>
        </p:nvSpPr>
        <p:spPr>
          <a:xfrm>
            <a:off x="8020849" y="3796157"/>
            <a:ext cx="5774436" cy="406349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1" name="TextBox 20"/>
          <p:cNvSpPr txBox="1"/>
          <p:nvPr/>
        </p:nvSpPr>
        <p:spPr>
          <a:xfrm>
            <a:off x="8181250" y="3828237"/>
            <a:ext cx="534670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3" b="1">
                <a:solidFill>
                  <a:srgbClr val="FFFFFF"/>
                </a:solidFill>
              </a:rPr>
              <a:t>原有路徑（向後相容）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4717" y="4330827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2E4057"/>
                </a:solidFill>
              </a:rPr>
              <a:t>open(flow_path)  →  test_flow.json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4717" y="4801337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steps = flow_cfg['steps']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4717" y="5271846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flow_name = flow_cfg['flow_name']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4717" y="5742356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TestFlowManager.run(steps, ...)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4717" y="6212865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888888"/>
                </a:solidFill>
              </a:rPr>
              <a:t>  → SessionResult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535" y="7292899"/>
            <a:ext cx="13366750" cy="342189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8" name="TextBox 27"/>
          <p:cNvSpPr txBox="1"/>
          <p:nvPr/>
        </p:nvSpPr>
        <p:spPr>
          <a:xfrm>
            <a:off x="642403" y="7303592"/>
            <a:ext cx="1283208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2E7D32"/>
                </a:solidFill>
              </a:rPr>
              <a:t>現有所有測試站（無外掛）完全不受影響，plugin=None 時自動走右側路徑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9" y="0"/>
            <a:ext cx="14254302" cy="1336675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" name="TextBox 2"/>
          <p:cNvSpPr txBox="1"/>
          <p:nvPr/>
        </p:nvSpPr>
        <p:spPr>
          <a:xfrm>
            <a:off x="428535" y="192482"/>
            <a:ext cx="12832080" cy="596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74" b="1" dirty="0" err="1">
                <a:solidFill>
                  <a:srgbClr val="FFFFFF"/>
                </a:solidFill>
              </a:rPr>
              <a:t>兩種新增專案的模式</a:t>
            </a:r>
            <a:endParaRPr sz="3274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35" y="876859"/>
            <a:ext cx="12832080" cy="34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37">
                <a:solidFill>
                  <a:srgbClr val="B0C4D8"/>
                </a:solidFill>
              </a:rPr>
              <a:t>不是所有新專案都需要寫 Plugin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9" y="7677861"/>
            <a:ext cx="14254302" cy="342189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6" name="TextBox 5"/>
          <p:cNvSpPr txBox="1"/>
          <p:nvPr/>
        </p:nvSpPr>
        <p:spPr>
          <a:xfrm>
            <a:off x="321601" y="7688555"/>
            <a:ext cx="12832080" cy="254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2">
                <a:solidFill>
                  <a:srgbClr val="B0C4D8"/>
                </a:solidFill>
              </a:rPr>
              <a:t>UATE — DUT Plugin Architecture  |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4433" y="1550543"/>
            <a:ext cx="3314954" cy="908939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20" b="1">
                <a:solidFill>
                  <a:srgbClr val="FFFFFF"/>
                </a:solidFill>
              </a:rPr>
              <a:t>新 DUT 專案
要整合進 UATE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103" y="2726817"/>
            <a:ext cx="2245614" cy="802005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20" b="1">
                <a:solidFill>
                  <a:srgbClr val="FFFFFF"/>
                </a:solidFill>
              </a:rPr>
              <a:t>測試步驟
是否固定？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4951" y="2865831"/>
            <a:ext cx="2887218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3" b="1">
                <a:solidFill>
                  <a:srgbClr val="2E7D32"/>
                </a:solidFill>
              </a:rPr>
              <a:t>固定  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1651" y="2865831"/>
            <a:ext cx="267335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3" b="1">
                <a:solidFill>
                  <a:srgbClr val="F57F17"/>
                </a:solidFill>
              </a:rPr>
              <a:t>→  動態展開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535" y="3689223"/>
            <a:ext cx="5774436" cy="3689223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Rectangle 11"/>
          <p:cNvSpPr/>
          <p:nvPr/>
        </p:nvSpPr>
        <p:spPr>
          <a:xfrm>
            <a:off x="428535" y="3689223"/>
            <a:ext cx="5774436" cy="42773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3" name="TextBox 12"/>
          <p:cNvSpPr txBox="1"/>
          <p:nvPr/>
        </p:nvSpPr>
        <p:spPr>
          <a:xfrm>
            <a:off x="588936" y="3721303"/>
            <a:ext cx="534670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3" b="1">
                <a:solidFill>
                  <a:srgbClr val="FFFFFF"/>
                </a:solidFill>
              </a:rPr>
              <a:t>通用型  —  只寫 test_flow.json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403" y="4223893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步驟固定（5~10 步），依序跑腳本/控儀器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403" y="4630242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不需要寫任何 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403" y="5036591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只需建立 test_flow.json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403" y="5442941"/>
            <a:ext cx="5346700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456"/>
          </a:p>
        </p:txBody>
      </p:sp>
      <p:sp>
        <p:nvSpPr>
          <p:cNvPr id="18" name="TextBox 17"/>
          <p:cNvSpPr txBox="1"/>
          <p:nvPr/>
        </p:nvSpPr>
        <p:spPr>
          <a:xfrm>
            <a:off x="642403" y="5849290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2E4057"/>
                </a:solidFill>
              </a:rPr>
              <a:t>範例：EEPROM 燒錄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403" y="6255639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888888"/>
                </a:solidFill>
              </a:rPr>
              <a:t>  relay_on → dut_on → eeprom_burn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403" y="6661988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888888"/>
                </a:solidFill>
              </a:rPr>
              <a:t>  → verify_sn → dut_off → relay_off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8535" y="7431913"/>
            <a:ext cx="5774436" cy="374269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2" name="TextBox 21"/>
          <p:cNvSpPr txBox="1"/>
          <p:nvPr/>
        </p:nvSpPr>
        <p:spPr>
          <a:xfrm>
            <a:off x="588936" y="7453300"/>
            <a:ext cx="54536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2E7D32"/>
                </a:solidFill>
              </a:rPr>
              <a:t>新增需要做：1 個 JSON，零 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0849" y="3689223"/>
            <a:ext cx="5774436" cy="3689223"/>
          </a:xfrm>
          <a:prstGeom prst="rect">
            <a:avLst/>
          </a:prstGeom>
          <a:solidFill>
            <a:srgbClr val="FFFFFF"/>
          </a:solidFill>
          <a:ln w="19050">
            <a:solidFill>
              <a:srgbClr val="048A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4" name="Rectangle 23"/>
          <p:cNvSpPr/>
          <p:nvPr/>
        </p:nvSpPr>
        <p:spPr>
          <a:xfrm>
            <a:off x="8020849" y="3689223"/>
            <a:ext cx="5774436" cy="427736"/>
          </a:xfrm>
          <a:prstGeom prst="rect">
            <a:avLst/>
          </a:prstGeom>
          <a:solidFill>
            <a:srgbClr val="048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25" name="TextBox 24"/>
          <p:cNvSpPr txBox="1"/>
          <p:nvPr/>
        </p:nvSpPr>
        <p:spPr>
          <a:xfrm>
            <a:off x="8181250" y="3721303"/>
            <a:ext cx="534670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3" b="1">
                <a:solidFill>
                  <a:srgbClr val="FFFFFF"/>
                </a:solidFill>
              </a:rPr>
              <a:t>專案型  —  實作 Plugin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4717" y="4223893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步驟由測試矩陣動態展開（多維度組合）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4717" y="4630242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或需要 GUI 讓操作員選擇測試組合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4717" y="5036591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2E4057"/>
                </a:solidFill>
              </a:rPr>
              <a:t>實作 expand_to_steps() Python 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4717" y="5442941"/>
            <a:ext cx="5346700" cy="470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2456"/>
          </a:p>
        </p:txBody>
      </p:sp>
      <p:sp>
        <p:nvSpPr>
          <p:cNvPr id="30" name="TextBox 29"/>
          <p:cNvSpPr txBox="1"/>
          <p:nvPr/>
        </p:nvSpPr>
        <p:spPr>
          <a:xfrm>
            <a:off x="8234717" y="5849290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2E4057"/>
                </a:solidFill>
              </a:rPr>
              <a:t>範例：HD2 SDB 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4717" y="6255639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888888"/>
                </a:solidFill>
              </a:rPr>
              <a:t>  2G × 5G × BT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4717" y="6661988"/>
            <a:ext cx="5346700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>
                <a:solidFill>
                  <a:srgbClr val="888888"/>
                </a:solidFill>
              </a:rPr>
              <a:t>  調變 × 頻率 × 天線  →  數十~數百步驟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20849" y="7431913"/>
            <a:ext cx="5774436" cy="374269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4" name="TextBox 33"/>
          <p:cNvSpPr txBox="1"/>
          <p:nvPr/>
        </p:nvSpPr>
        <p:spPr>
          <a:xfrm>
            <a:off x="8181250" y="7453300"/>
            <a:ext cx="5453634" cy="29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86" b="1">
                <a:solidFill>
                  <a:srgbClr val="048A81"/>
                </a:solidFill>
              </a:rPr>
              <a:t>新增需要做：JSON + Python Plugin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8535" y="7848956"/>
            <a:ext cx="13366750" cy="342189"/>
          </a:xfrm>
          <a:prstGeom prst="rect">
            <a:avLst/>
          </a:prstGeom>
          <a:solidFill>
            <a:srgbClr val="2E4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36" name="TextBox 35"/>
          <p:cNvSpPr txBox="1"/>
          <p:nvPr/>
        </p:nvSpPr>
        <p:spPr>
          <a:xfrm>
            <a:off x="642403" y="7870342"/>
            <a:ext cx="12832080" cy="308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3" b="1">
                <a:solidFill>
                  <a:srgbClr val="048A81"/>
                </a:solidFill>
              </a:rPr>
              <a:t>兩種方式，UATE Core 都不需要修改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7B330A-EE18-E875-F22D-F55AD0D63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0C61B8E-B103-3E68-A8AE-DBFDD3F89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88" y="348066"/>
            <a:ext cx="6235885" cy="449684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68DC887-4791-4510-4198-0FE0AA03B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85" y="2445476"/>
            <a:ext cx="8084214" cy="4730125"/>
          </a:xfrm>
          <a:prstGeom prst="rect">
            <a:avLst/>
          </a:prstGeom>
        </p:spPr>
      </p:pic>
      <p:sp>
        <p:nvSpPr>
          <p:cNvPr id="11" name="Rectangle 35">
            <a:extLst>
              <a:ext uri="{FF2B5EF4-FFF2-40B4-BE49-F238E27FC236}">
                <a16:creationId xmlns:a16="http://schemas.microsoft.com/office/drawing/2014/main" id="{2AAE7A77-AEA5-D1EB-D495-042D3CABC782}"/>
              </a:ext>
            </a:extLst>
          </p:cNvPr>
          <p:cNvSpPr/>
          <p:nvPr/>
        </p:nvSpPr>
        <p:spPr>
          <a:xfrm>
            <a:off x="5295900" y="2875229"/>
            <a:ext cx="647700" cy="23627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F2CC91F8-67BE-0C8D-C2AC-25AB4BC28C02}"/>
              </a:ext>
            </a:extLst>
          </p:cNvPr>
          <p:cNvSpPr/>
          <p:nvPr/>
        </p:nvSpPr>
        <p:spPr>
          <a:xfrm>
            <a:off x="1638300" y="830529"/>
            <a:ext cx="647700" cy="23627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</p:spTree>
    <p:extLst>
      <p:ext uri="{BB962C8B-B14F-4D97-AF65-F5344CB8AC3E}">
        <p14:creationId xmlns:p14="http://schemas.microsoft.com/office/powerpoint/2010/main" val="381089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033024-B05C-E126-FD2D-60B9A4E05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FF1A791-5344-C6A1-5595-518E61463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155" y="419868"/>
            <a:ext cx="9173855" cy="6782747"/>
          </a:xfrm>
          <a:prstGeom prst="rect">
            <a:avLst/>
          </a:prstGeom>
        </p:spPr>
      </p:pic>
      <p:sp>
        <p:nvSpPr>
          <p:cNvPr id="7" name="Rectangle 35">
            <a:extLst>
              <a:ext uri="{FF2B5EF4-FFF2-40B4-BE49-F238E27FC236}">
                <a16:creationId xmlns:a16="http://schemas.microsoft.com/office/drawing/2014/main" id="{6F6D4A87-7C81-3FF5-F651-2E13D2C78FE7}"/>
              </a:ext>
            </a:extLst>
          </p:cNvPr>
          <p:cNvSpPr/>
          <p:nvPr/>
        </p:nvSpPr>
        <p:spPr>
          <a:xfrm>
            <a:off x="2159000" y="1211529"/>
            <a:ext cx="774700" cy="23627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56"/>
          </a:p>
        </p:txBody>
      </p:sp>
    </p:spTree>
    <p:extLst>
      <p:ext uri="{BB962C8B-B14F-4D97-AF65-F5344CB8AC3E}">
        <p14:creationId xmlns:p14="http://schemas.microsoft.com/office/powerpoint/2010/main" val="740297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41FC-4F5B-4F3B-F991-486E72D5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8D8505-0B0B-EF6C-68F2-BFB7ED0E2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DUT </a:t>
            </a:r>
            <a:r>
              <a:rPr lang="zh-TW" altLang="en-US" dirty="0"/>
              <a:t>測試腳本現況分析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29A5C8-0889-341F-3C37-5C180D07F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B3">
            <a:extLst>
              <a:ext uri="{FF2B5EF4-FFF2-40B4-BE49-F238E27FC236}">
                <a16:creationId xmlns:a16="http://schemas.microsoft.com/office/drawing/2014/main" id="{362B2148-1494-24BF-F339-96C3ED0E4392}"/>
              </a:ext>
            </a:extLst>
          </p:cNvPr>
          <p:cNvSpPr txBox="1"/>
          <p:nvPr/>
        </p:nvSpPr>
        <p:spPr>
          <a:xfrm>
            <a:off x="5736609" y="6763621"/>
            <a:ext cx="370614" cy="302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368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1" name="TB4">
            <a:extLst>
              <a:ext uri="{FF2B5EF4-FFF2-40B4-BE49-F238E27FC236}">
                <a16:creationId xmlns:a16="http://schemas.microsoft.com/office/drawing/2014/main" id="{7787D145-0B5B-317E-A422-40A044C9C398}"/>
              </a:ext>
            </a:extLst>
          </p:cNvPr>
          <p:cNvSpPr txBox="1"/>
          <p:nvPr/>
        </p:nvSpPr>
        <p:spPr>
          <a:xfrm>
            <a:off x="683431" y="1578735"/>
            <a:ext cx="10873645" cy="342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25" dirty="0">
                <a:solidFill>
                  <a:srgbClr val="555555"/>
                </a:solidFill>
              </a:rPr>
              <a:t>現況：RF 工程師手寫 BAT 腳本，測試矩陣寫死在程式碼裡。改一個維度，牽動全部。</a:t>
            </a:r>
          </a:p>
        </p:txBody>
      </p:sp>
      <p:sp>
        <p:nvSpPr>
          <p:cNvPr id="12" name="TB5">
            <a:extLst>
              <a:ext uri="{FF2B5EF4-FFF2-40B4-BE49-F238E27FC236}">
                <a16:creationId xmlns:a16="http://schemas.microsoft.com/office/drawing/2014/main" id="{4FE880FE-BB85-7380-B00B-1EA95610CEAB}"/>
              </a:ext>
            </a:extLst>
          </p:cNvPr>
          <p:cNvSpPr txBox="1"/>
          <p:nvPr/>
        </p:nvSpPr>
        <p:spPr>
          <a:xfrm>
            <a:off x="683431" y="1941653"/>
            <a:ext cx="10873645" cy="1243289"/>
          </a:xfrm>
          <a:prstGeom prst="rect">
            <a:avLst/>
          </a:prstGeom>
          <a:solidFill>
            <a:srgbClr val="FFF8F0"/>
          </a:solidFill>
        </p:spPr>
        <p:txBody>
          <a:bodyPr wrap="square">
            <a:spAutoFit/>
          </a:bodyPr>
          <a:lstStyle/>
          <a:p>
            <a:pPr marL="244345" indent="-244345">
              <a:buFont typeface="Wingdings" panose="05000000000000000000" pitchFamily="2" charset="2"/>
              <a:buChar char="Ø"/>
            </a:pPr>
            <a:r>
              <a:rPr lang="zh-TW" altLang="en-US" sz="1496" dirty="0">
                <a:solidFill>
                  <a:srgbClr val="333333"/>
                </a:solidFill>
              </a:rPr>
              <a:t>新增頻率 → 要同步改 3 個地方（BAT 主腳本 + set_index + Index_sort）</a:t>
            </a:r>
            <a:endParaRPr lang="en-US" altLang="zh-TW" sz="1496" dirty="0">
              <a:solidFill>
                <a:srgbClr val="333333"/>
              </a:solidFill>
            </a:endParaRPr>
          </a:p>
          <a:p>
            <a:pPr marL="244345" indent="-244345">
              <a:buFont typeface="Wingdings" panose="05000000000000000000" pitchFamily="2" charset="2"/>
              <a:buChar char="Ø"/>
            </a:pPr>
            <a:r>
              <a:rPr lang="zh-TW" altLang="en-US" sz="1496" dirty="0">
                <a:solidFill>
                  <a:srgbClr val="333333"/>
                </a:solidFill>
              </a:rPr>
              <a:t>新增天線 → 不只是數量，每支天線的 RF Switch / 儀器 port / 量測行為都要重寫</a:t>
            </a:r>
          </a:p>
          <a:p>
            <a:pPr marL="244345" indent="-244345">
              <a:buFont typeface="Wingdings" panose="05000000000000000000" pitchFamily="2" charset="2"/>
              <a:buChar char="Ø"/>
            </a:pPr>
            <a:r>
              <a:rPr lang="zh-TW" altLang="en-US" sz="1496" dirty="0">
                <a:solidFill>
                  <a:srgbClr val="333333"/>
                </a:solidFill>
              </a:rPr>
              <a:t>新增 BT 頻率 → BT 頻率藏在 BAT 檔名裡，要建新檔、改所有呼叫點</a:t>
            </a:r>
          </a:p>
          <a:p>
            <a:pPr marL="244345" indent="-244345">
              <a:buFont typeface="Wingdings" panose="05000000000000000000" pitchFamily="2" charset="2"/>
              <a:buChar char="Ø"/>
            </a:pPr>
            <a:r>
              <a:rPr lang="zh-TW" altLang="en-US" sz="1496" dirty="0">
                <a:solidFill>
                  <a:srgbClr val="333333"/>
                </a:solidFill>
              </a:rPr>
              <a:t>換測試 PC → 路徑分散在每支 BAT 每一行，逐一修改</a:t>
            </a:r>
          </a:p>
          <a:p>
            <a:pPr marL="244345" indent="-244345">
              <a:buFont typeface="Wingdings" panose="05000000000000000000" pitchFamily="2" charset="2"/>
              <a:buChar char="Ø"/>
            </a:pPr>
            <a:r>
              <a:rPr lang="zh-TW" altLang="en-US" sz="1496" dirty="0">
                <a:solidFill>
                  <a:srgbClr val="333333"/>
                </a:solidFill>
              </a:rPr>
              <a:t>錯誤發現時機 → 只能實際跑測試才知道，沒有任何提示</a:t>
            </a:r>
          </a:p>
        </p:txBody>
      </p:sp>
      <p:sp>
        <p:nvSpPr>
          <p:cNvPr id="13" name="TB6">
            <a:extLst>
              <a:ext uri="{FF2B5EF4-FFF2-40B4-BE49-F238E27FC236}">
                <a16:creationId xmlns:a16="http://schemas.microsoft.com/office/drawing/2014/main" id="{C0433E13-ECA1-4DAE-DDA9-C3CE9A37D0C7}"/>
              </a:ext>
            </a:extLst>
          </p:cNvPr>
          <p:cNvSpPr txBox="1"/>
          <p:nvPr/>
        </p:nvSpPr>
        <p:spPr>
          <a:xfrm>
            <a:off x="683431" y="1269615"/>
            <a:ext cx="10873645" cy="342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25" b="1" dirty="0">
                <a:solidFill>
                  <a:srgbClr val="048A81"/>
                </a:solidFill>
              </a:rPr>
              <a:t>以 HD2_SDB_OL 為例：</a:t>
            </a:r>
          </a:p>
        </p:txBody>
      </p:sp>
    </p:spTree>
    <p:extLst>
      <p:ext uri="{BB962C8B-B14F-4D97-AF65-F5344CB8AC3E}">
        <p14:creationId xmlns:p14="http://schemas.microsoft.com/office/powerpoint/2010/main" val="301648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44BA-5F76-13F2-9AA7-005E338C9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E1DF51-4A18-09E9-B1DC-B1C7005E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DUT </a:t>
            </a:r>
            <a:r>
              <a:rPr lang="zh-TW" altLang="en-US" dirty="0"/>
              <a:t>測試改善方向（</a:t>
            </a:r>
            <a:r>
              <a:rPr lang="en-US" altLang="zh-TW" dirty="0"/>
              <a:t>2/2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02F5FD-18A1-DAD9-FE65-98978870E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B5">
            <a:extLst>
              <a:ext uri="{FF2B5EF4-FFF2-40B4-BE49-F238E27FC236}">
                <a16:creationId xmlns:a16="http://schemas.microsoft.com/office/drawing/2014/main" id="{90F443C5-CBBF-BC66-B4A4-C3113315973C}"/>
              </a:ext>
            </a:extLst>
          </p:cNvPr>
          <p:cNvSpPr txBox="1"/>
          <p:nvPr/>
        </p:nvSpPr>
        <p:spPr>
          <a:xfrm>
            <a:off x="727671" y="1722154"/>
            <a:ext cx="10873645" cy="1723549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r>
              <a:rPr lang="zh-TW" altLang="en-US" sz="1325" dirty="0">
                <a:solidFill>
                  <a:srgbClr val="333333"/>
                </a:solidFill>
                <a:latin typeface="Courier New"/>
              </a:rPr>
              <a:t>修改情境           | 現況（手動 BAT）                       | 導入後</a:t>
            </a:r>
          </a:p>
          <a:p>
            <a:r>
              <a:rPr lang="zh-TW" altLang="en-US" sz="1325" dirty="0">
                <a:solidFill>
                  <a:srgbClr val="333333"/>
                </a:solidFill>
                <a:latin typeface="Courier New"/>
              </a:rPr>
              <a:t>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lang="zh-TW" altLang="en-US" sz="1325" dirty="0">
                <a:solidFill>
                  <a:srgbClr val="333333"/>
                </a:solidFill>
                <a:latin typeface="Courier New"/>
              </a:rPr>
              <a:t>新增頻率           | 改 3 個地方，漏改不報錯                 | 改 1 個欄位</a:t>
            </a:r>
          </a:p>
          <a:p>
            <a:r>
              <a:rPr lang="zh-TW" altLang="en-US" sz="1325" dirty="0">
                <a:solidFill>
                  <a:srgbClr val="333333"/>
                </a:solidFill>
                <a:latin typeface="Courier New"/>
              </a:rPr>
              <a:t>新增天線           | 全部 BAT 重展開 + 截圖編號重算           | 改 profile + config，自動展開</a:t>
            </a:r>
          </a:p>
          <a:p>
            <a:r>
              <a:rPr lang="zh-TW" altLang="en-US" sz="1325" dirty="0">
                <a:solidFill>
                  <a:srgbClr val="333333"/>
                </a:solidFill>
                <a:latin typeface="Courier New"/>
              </a:rPr>
              <a:t>新增 BT 頻率       | 建新 BAT 檔 + 改所有呼叫點              | 加一個數字</a:t>
            </a:r>
          </a:p>
          <a:p>
            <a:r>
              <a:rPr lang="zh-TW" altLang="en-US" sz="1325" dirty="0">
                <a:solidFill>
                  <a:srgbClr val="333333"/>
                </a:solidFill>
                <a:latin typeface="Courier New"/>
              </a:rPr>
              <a:t>換測試 PC          | 每支 BAT 逐行改路徑                     | 改 project_root 一個欄位</a:t>
            </a:r>
          </a:p>
          <a:p>
            <a:r>
              <a:rPr lang="zh-TW" altLang="en-US" sz="1325" dirty="0">
                <a:solidFill>
                  <a:srgbClr val="333333"/>
                </a:solidFill>
                <a:latin typeface="Courier New"/>
              </a:rPr>
              <a:t>新專案建立         | 數天（寫 BAT + 驗證 + 除錯）             | 半天（填 profile + config）</a:t>
            </a:r>
          </a:p>
          <a:p>
            <a:r>
              <a:rPr lang="zh-TW" altLang="en-US" sz="1325" dirty="0">
                <a:solidFill>
                  <a:srgbClr val="333333"/>
                </a:solidFill>
                <a:latin typeface="Courier New"/>
              </a:rPr>
              <a:t>結果記錄           | 截圖存檔 + log 手動搬移                  | SessionResult → SFIS 自動上傳</a:t>
            </a:r>
          </a:p>
        </p:txBody>
      </p:sp>
      <p:sp>
        <p:nvSpPr>
          <p:cNvPr id="9" name="TB7">
            <a:extLst>
              <a:ext uri="{FF2B5EF4-FFF2-40B4-BE49-F238E27FC236}">
                <a16:creationId xmlns:a16="http://schemas.microsoft.com/office/drawing/2014/main" id="{93CE7029-143A-3D9E-B297-3B092340618F}"/>
              </a:ext>
            </a:extLst>
          </p:cNvPr>
          <p:cNvSpPr txBox="1"/>
          <p:nvPr/>
        </p:nvSpPr>
        <p:spPr>
          <a:xfrm>
            <a:off x="727670" y="3660034"/>
            <a:ext cx="10873645" cy="763671"/>
          </a:xfrm>
          <a:prstGeom prst="rect">
            <a:avLst/>
          </a:prstGeom>
          <a:solidFill>
            <a:srgbClr val="FFF3CD"/>
          </a:solidFill>
        </p:spPr>
        <p:txBody>
          <a:bodyPr wrap="square">
            <a:spAutoFit/>
          </a:bodyPr>
          <a:lstStyle/>
          <a:p>
            <a:r>
              <a:rPr lang="zh-TW" altLang="en-US" sz="1454" dirty="0">
                <a:solidFill>
                  <a:srgbClr val="333333"/>
                </a:solidFill>
              </a:rPr>
              <a:t>目標（TestMatrixManager）：</a:t>
            </a:r>
            <a:endParaRPr lang="en-US" altLang="zh-TW" sz="1454" dirty="0">
              <a:solidFill>
                <a:srgbClr val="333333"/>
              </a:solidFill>
            </a:endParaRPr>
          </a:p>
          <a:p>
            <a:r>
              <a:rPr lang="zh-TW" altLang="en-US" sz="1454" dirty="0">
                <a:solidFill>
                  <a:srgbClr val="333333"/>
                </a:solidFill>
              </a:rPr>
              <a:t>TestMatrixManager — 統一格式、天線拓樸從 profile 讀取</a:t>
            </a:r>
            <a:endParaRPr lang="en-US" altLang="zh-TW" sz="1454" dirty="0">
              <a:solidFill>
                <a:srgbClr val="333333"/>
              </a:solidFill>
            </a:endParaRPr>
          </a:p>
          <a:p>
            <a:r>
              <a:rPr lang="zh-TW" altLang="en-US" sz="1454" dirty="0">
                <a:solidFill>
                  <a:srgbClr val="333333"/>
                </a:solidFill>
              </a:rPr>
              <a:t>UATE 直接執行測試矩陣，不再產出 BAT，RF RD 在 GUI 即時看到 Pass/Fail</a:t>
            </a:r>
          </a:p>
        </p:txBody>
      </p:sp>
      <p:sp>
        <p:nvSpPr>
          <p:cNvPr id="10" name="TB4">
            <a:extLst>
              <a:ext uri="{FF2B5EF4-FFF2-40B4-BE49-F238E27FC236}">
                <a16:creationId xmlns:a16="http://schemas.microsoft.com/office/drawing/2014/main" id="{3EAB89A3-85FC-C866-BE4B-B627DBABD275}"/>
              </a:ext>
            </a:extLst>
          </p:cNvPr>
          <p:cNvSpPr txBox="1"/>
          <p:nvPr/>
        </p:nvSpPr>
        <p:spPr>
          <a:xfrm>
            <a:off x="727671" y="1336622"/>
            <a:ext cx="10873645" cy="342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25" b="1" dirty="0">
                <a:solidFill>
                  <a:srgbClr val="048A81"/>
                </a:solidFill>
              </a:rPr>
              <a:t>改善前後對比：</a:t>
            </a:r>
          </a:p>
        </p:txBody>
      </p:sp>
    </p:spTree>
    <p:extLst>
      <p:ext uri="{BB962C8B-B14F-4D97-AF65-F5344CB8AC3E}">
        <p14:creationId xmlns:p14="http://schemas.microsoft.com/office/powerpoint/2010/main" val="3467704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6CD44-9794-4E16-856C-12D9EA631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506098-2B5A-1445-7602-FF4CE766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DUT </a:t>
            </a:r>
            <a:r>
              <a:rPr lang="zh-TW" altLang="en-US" dirty="0"/>
              <a:t>測試改善方向（</a:t>
            </a:r>
            <a:r>
              <a:rPr lang="en-US" altLang="zh-TW" dirty="0"/>
              <a:t>1/2</a:t>
            </a:r>
            <a:r>
              <a:rPr lang="zh-TW" altLang="en-US" dirty="0"/>
              <a:t>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AA96AE-1A01-3C9B-AD80-1515E01E71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677275" y="7815505"/>
            <a:ext cx="981585" cy="140091"/>
          </a:xfrm>
        </p:spPr>
        <p:txBody>
          <a:bodyPr/>
          <a:lstStyle/>
          <a:p>
            <a:fld id="{0837AD97-F8C7-9D44-92E0-3E7A90683A6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B3">
            <a:extLst>
              <a:ext uri="{FF2B5EF4-FFF2-40B4-BE49-F238E27FC236}">
                <a16:creationId xmlns:a16="http://schemas.microsoft.com/office/drawing/2014/main" id="{B2FBA5F8-DE03-FDFB-4753-F6BF3C221F12}"/>
              </a:ext>
            </a:extLst>
          </p:cNvPr>
          <p:cNvSpPr txBox="1"/>
          <p:nvPr/>
        </p:nvSpPr>
        <p:spPr>
          <a:xfrm>
            <a:off x="693478" y="1304684"/>
            <a:ext cx="10873645" cy="342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25" b="1" dirty="0">
                <a:solidFill>
                  <a:srgbClr val="048A81"/>
                </a:solidFill>
              </a:rPr>
              <a:t>設計靈感來源：Cooper（前一代 RF 測試工具）</a:t>
            </a:r>
          </a:p>
        </p:txBody>
      </p:sp>
      <p:sp>
        <p:nvSpPr>
          <p:cNvPr id="9" name="TB4">
            <a:extLst>
              <a:ext uri="{FF2B5EF4-FFF2-40B4-BE49-F238E27FC236}">
                <a16:creationId xmlns:a16="http://schemas.microsoft.com/office/drawing/2014/main" id="{C2D1D2A7-E081-7BA9-4D36-7D35BD92D722}"/>
              </a:ext>
            </a:extLst>
          </p:cNvPr>
          <p:cNvSpPr txBox="1"/>
          <p:nvPr/>
        </p:nvSpPr>
        <p:spPr>
          <a:xfrm>
            <a:off x="693478" y="1578319"/>
            <a:ext cx="10873645" cy="1211229"/>
          </a:xfrm>
          <a:prstGeom prst="rect">
            <a:avLst/>
          </a:prstGeom>
          <a:solidFill>
            <a:srgbClr val="F0EBF8"/>
          </a:solidFill>
        </p:spPr>
        <p:txBody>
          <a:bodyPr wrap="square">
            <a:spAutoFit/>
          </a:bodyPr>
          <a:lstStyle/>
          <a:p>
            <a:r>
              <a:rPr lang="zh-TW" altLang="en-US" sz="1454" dirty="0">
                <a:solidFill>
                  <a:srgbClr val="333333"/>
                </a:solidFill>
              </a:rPr>
              <a:t>Cooper 是 SW 工程師開發給 RF RD 使用的舊版測試工具，核心概念：「測試矩陣由設定檔驅動」</a:t>
            </a:r>
          </a:p>
          <a:p>
            <a:r>
              <a:rPr lang="zh-TW" altLang="en-US" sz="1454" dirty="0">
                <a:solidFill>
                  <a:srgbClr val="333333"/>
                </a:solidFill>
              </a:rPr>
              <a:t>  → 頻率、調變、天線等測試維度拆成多個 CSV，程式自動 cross product 展開所有組合</a:t>
            </a:r>
          </a:p>
          <a:p>
            <a:r>
              <a:rPr lang="zh-TW" altLang="en-US" sz="1454" dirty="0">
                <a:solidFill>
                  <a:srgbClr val="333333"/>
                </a:solidFill>
              </a:rPr>
              <a:t>  → RF RD 只需改 CSV，不碰程式碼；新增頻率 = 在 CSV 加一行</a:t>
            </a:r>
          </a:p>
          <a:p>
            <a:r>
              <a:rPr lang="zh-TW" altLang="en-US" sz="1454" dirty="0">
                <a:solidFill>
                  <a:srgbClr val="333333"/>
                </a:solidFill>
              </a:rPr>
              <a:t>Cooper 的限制：測試邏輯寫死在 Python、無法接 SFIS、無法跨平台、Driver 無法模組化替換</a:t>
            </a:r>
          </a:p>
          <a:p>
            <a:r>
              <a:rPr lang="zh-TW" altLang="en-US" sz="1454" dirty="0">
                <a:solidFill>
                  <a:srgbClr val="333333"/>
                </a:solidFill>
              </a:rPr>
              <a:t>UATE 借鑒此概念並改善：CSV → JSON + GUI；執行邏輯 → 模組化 Driver + OutputManager</a:t>
            </a:r>
          </a:p>
        </p:txBody>
      </p:sp>
      <p:sp>
        <p:nvSpPr>
          <p:cNvPr id="10" name="TB5">
            <a:extLst>
              <a:ext uri="{FF2B5EF4-FFF2-40B4-BE49-F238E27FC236}">
                <a16:creationId xmlns:a16="http://schemas.microsoft.com/office/drawing/2014/main" id="{DE11B96B-0714-C142-84B7-D8DB6C99E12B}"/>
              </a:ext>
            </a:extLst>
          </p:cNvPr>
          <p:cNvSpPr txBox="1"/>
          <p:nvPr/>
        </p:nvSpPr>
        <p:spPr>
          <a:xfrm>
            <a:off x="693478" y="3092817"/>
            <a:ext cx="10873645" cy="342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25" b="1" dirty="0">
                <a:solidFill>
                  <a:srgbClr val="048A81"/>
                </a:solidFill>
              </a:rPr>
              <a:t>UATE 改善方式：三層分離架構</a:t>
            </a:r>
          </a:p>
        </p:txBody>
      </p:sp>
      <p:sp>
        <p:nvSpPr>
          <p:cNvPr id="11" name="TB6">
            <a:extLst>
              <a:ext uri="{FF2B5EF4-FFF2-40B4-BE49-F238E27FC236}">
                <a16:creationId xmlns:a16="http://schemas.microsoft.com/office/drawing/2014/main" id="{D83E257B-2CE3-DFF4-082F-04868CED79E1}"/>
              </a:ext>
            </a:extLst>
          </p:cNvPr>
          <p:cNvSpPr txBox="1"/>
          <p:nvPr/>
        </p:nvSpPr>
        <p:spPr>
          <a:xfrm>
            <a:off x="693478" y="3528423"/>
            <a:ext cx="10873645" cy="1013098"/>
          </a:xfrm>
          <a:prstGeom prst="rect">
            <a:avLst/>
          </a:prstGeom>
          <a:solidFill>
            <a:srgbClr val="E8F4F3"/>
          </a:solidFill>
        </p:spPr>
        <p:txBody>
          <a:bodyPr wrap="square">
            <a:spAutoFit/>
          </a:bodyPr>
          <a:lstStyle/>
          <a:p>
            <a:r>
              <a:rPr lang="zh-TW" altLang="en-US" sz="1496" dirty="0">
                <a:solidFill>
                  <a:srgbClr val="333333"/>
                </a:solidFill>
                <a:latin typeface="Courier New"/>
              </a:rPr>
              <a:t>test_profile.json  →  拓樸層（天線接哪台儀器哪個 port、RF Switch 指令）</a:t>
            </a:r>
          </a:p>
          <a:p>
            <a:r>
              <a:rPr lang="zh-TW" altLang="en-US" sz="1496" dirty="0">
                <a:solidFill>
                  <a:srgbClr val="333333"/>
                </a:solidFill>
                <a:latin typeface="Courier New"/>
              </a:rPr>
              <a:t>test_flow.json     →  流程層（動作定義、limits、on_step_failure）</a:t>
            </a:r>
          </a:p>
          <a:p>
            <a:r>
              <a:rPr lang="zh-TW" altLang="en-US" sz="1496" dirty="0">
                <a:solidFill>
                  <a:srgbClr val="333333"/>
                </a:solidFill>
                <a:latin typeface="Courier New"/>
              </a:rPr>
              <a:t>test_matrix.json   →  矩陣層（幾支天線、哪些頻率、哪些調變、BT 頻率）</a:t>
            </a:r>
            <a:endParaRPr lang="en-US" altLang="zh-TW" sz="1496" dirty="0">
              <a:solidFill>
                <a:srgbClr val="333333"/>
              </a:solidFill>
              <a:latin typeface="Courier New"/>
            </a:endParaRPr>
          </a:p>
          <a:p>
            <a:r>
              <a:rPr lang="zh-TW" altLang="en-US" sz="1496" dirty="0">
                <a:solidFill>
                  <a:srgbClr val="333333"/>
                </a:solidFill>
                <a:latin typeface="Courier New"/>
              </a:rPr>
              <a:t>→ 任何一層改動不影響其他兩層</a:t>
            </a:r>
          </a:p>
        </p:txBody>
      </p:sp>
      <p:sp>
        <p:nvSpPr>
          <p:cNvPr id="12" name="TB7">
            <a:extLst>
              <a:ext uri="{FF2B5EF4-FFF2-40B4-BE49-F238E27FC236}">
                <a16:creationId xmlns:a16="http://schemas.microsoft.com/office/drawing/2014/main" id="{7E9343FA-B8D6-AED7-4547-3DC2FB342244}"/>
              </a:ext>
            </a:extLst>
          </p:cNvPr>
          <p:cNvSpPr txBox="1"/>
          <p:nvPr/>
        </p:nvSpPr>
        <p:spPr>
          <a:xfrm>
            <a:off x="693478" y="4695910"/>
            <a:ext cx="10873645" cy="342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25" b="1" dirty="0">
                <a:solidFill>
                  <a:srgbClr val="048A81"/>
                </a:solidFill>
              </a:rPr>
              <a:t>效果舉例：</a:t>
            </a:r>
          </a:p>
        </p:txBody>
      </p:sp>
      <p:sp>
        <p:nvSpPr>
          <p:cNvPr id="13" name="TB8">
            <a:extLst>
              <a:ext uri="{FF2B5EF4-FFF2-40B4-BE49-F238E27FC236}">
                <a16:creationId xmlns:a16="http://schemas.microsoft.com/office/drawing/2014/main" id="{AD2BA9C6-17F8-3910-07AC-92DA71F54C67}"/>
              </a:ext>
            </a:extLst>
          </p:cNvPr>
          <p:cNvSpPr txBox="1"/>
          <p:nvPr/>
        </p:nvSpPr>
        <p:spPr>
          <a:xfrm>
            <a:off x="693478" y="5055468"/>
            <a:ext cx="10873645" cy="98745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r>
              <a:rPr lang="zh-TW" altLang="en-US" sz="1454" dirty="0">
                <a:solidFill>
                  <a:srgbClr val="333333"/>
                </a:solidFill>
              </a:rPr>
              <a:t>新增天線（2 支 → 4 支）：現況需改全部 BAT + 重算截圖編號（數天）</a:t>
            </a:r>
          </a:p>
          <a:p>
            <a:r>
              <a:rPr lang="zh-TW" altLang="en-US" sz="1454" dirty="0">
                <a:solidFill>
                  <a:srgbClr val="333333"/>
                </a:solidFill>
              </a:rPr>
              <a:t>                          導入後只改 test_profile.json + test_matrix.json 各加幾行</a:t>
            </a:r>
          </a:p>
          <a:p>
            <a:r>
              <a:rPr lang="zh-TW" altLang="en-US" sz="1454" dirty="0">
                <a:solidFill>
                  <a:srgbClr val="333333"/>
                </a:solidFill>
              </a:rPr>
              <a:t>新增頻率：現況需改 3 個地方（漏改不報錯）→  導入後改 1 個欄位</a:t>
            </a:r>
          </a:p>
          <a:p>
            <a:r>
              <a:rPr lang="zh-TW" altLang="en-US" sz="1454" dirty="0">
                <a:solidFill>
                  <a:srgbClr val="333333"/>
                </a:solidFill>
              </a:rPr>
              <a:t>新專案建立：現況數天 → 導入後半天</a:t>
            </a:r>
          </a:p>
        </p:txBody>
      </p:sp>
      <p:sp>
        <p:nvSpPr>
          <p:cNvPr id="14" name="TB9">
            <a:extLst>
              <a:ext uri="{FF2B5EF4-FFF2-40B4-BE49-F238E27FC236}">
                <a16:creationId xmlns:a16="http://schemas.microsoft.com/office/drawing/2014/main" id="{9FE0E8E4-6B68-5E49-D8D9-1856956A25CC}"/>
              </a:ext>
            </a:extLst>
          </p:cNvPr>
          <p:cNvSpPr txBox="1"/>
          <p:nvPr/>
        </p:nvSpPr>
        <p:spPr>
          <a:xfrm>
            <a:off x="5746656" y="6713379"/>
            <a:ext cx="370614" cy="3028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368">
                <a:solidFill>
                  <a:srgbClr val="FFFFF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42379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63F20D-60EA-1EFD-576A-D9D575C7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zh-TW" altLang="en-US" dirty="0"/>
              <a:t>平台目標與設計原則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0E526E-5BE5-FDDB-9D66-56042439F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>
                <a:solidFill>
                  <a:srgbClr val="333333"/>
                </a:solidFill>
              </a:rPr>
              <a:t>UATE</a:t>
            </a:r>
            <a:r>
              <a:rPr lang="zh-TW" altLang="en-US" sz="1800" dirty="0">
                <a:solidFill>
                  <a:srgbClr val="333333"/>
                </a:solidFill>
              </a:rPr>
              <a:t>（</a:t>
            </a:r>
            <a:r>
              <a:rPr lang="en-US" altLang="zh-TW" sz="1800" dirty="0">
                <a:solidFill>
                  <a:srgbClr val="333333"/>
                </a:solidFill>
              </a:rPr>
              <a:t>Universal</a:t>
            </a:r>
            <a:r>
              <a:rPr lang="zh-TW" altLang="en-US" sz="1800" dirty="0">
                <a:solidFill>
                  <a:srgbClr val="333333"/>
                </a:solidFill>
              </a:rPr>
              <a:t> </a:t>
            </a:r>
            <a:r>
              <a:rPr lang="en-US" altLang="zh-TW" sz="1800" dirty="0">
                <a:solidFill>
                  <a:srgbClr val="333333"/>
                </a:solidFill>
              </a:rPr>
              <a:t>Automated Test Equipment</a:t>
            </a:r>
            <a:r>
              <a:rPr lang="zh-TW" altLang="en-US" sz="1800" dirty="0">
                <a:solidFill>
                  <a:srgbClr val="333333"/>
                </a:solidFill>
              </a:rPr>
              <a:t>）是一個</a:t>
            </a:r>
            <a:r>
              <a:rPr lang="zh-TW" altLang="en-US" sz="1800" b="1" dirty="0">
                <a:solidFill>
                  <a:srgbClr val="333333"/>
                </a:solidFill>
              </a:rPr>
              <a:t>儀器無關、流程可設定</a:t>
            </a:r>
            <a:r>
              <a:rPr lang="zh-TW" altLang="en-US" sz="1800" dirty="0">
                <a:solidFill>
                  <a:srgbClr val="333333"/>
                </a:solidFill>
              </a:rPr>
              <a:t>的自動化測試平台。</a:t>
            </a:r>
          </a:p>
          <a:p>
            <a:r>
              <a:rPr lang="zh-TW" altLang="en-US" sz="1800" b="1" dirty="0">
                <a:solidFill>
                  <a:srgbClr val="333333"/>
                </a:solidFill>
              </a:rPr>
              <a:t>核心問題：</a:t>
            </a:r>
          </a:p>
          <a:p>
            <a:pPr>
              <a:spcBef>
                <a:spcPts val="300"/>
              </a:spcBef>
            </a:pPr>
            <a:r>
              <a:rPr lang="zh-TW" altLang="en-US" sz="1800" dirty="0">
                <a:solidFill>
                  <a:srgbClr val="333333"/>
                </a:solidFill>
              </a:rPr>
              <a:t>儀器因校正送修、替換評估，頻繁更動</a:t>
            </a:r>
          </a:p>
          <a:p>
            <a:pPr>
              <a:spcBef>
                <a:spcPts val="300"/>
              </a:spcBef>
            </a:pPr>
            <a:r>
              <a:rPr lang="zh-TW" altLang="en-US" sz="1800" dirty="0">
                <a:solidFill>
                  <a:srgbClr val="333333"/>
                </a:solidFill>
              </a:rPr>
              <a:t>測試流程依工程回饋持續修訂，有時一天改數次</a:t>
            </a:r>
          </a:p>
          <a:p>
            <a:pPr>
              <a:spcBef>
                <a:spcPts val="300"/>
              </a:spcBef>
            </a:pPr>
            <a:r>
              <a:rPr lang="zh-TW" altLang="en-US" sz="1800" dirty="0">
                <a:solidFill>
                  <a:srgbClr val="333333"/>
                </a:solidFill>
              </a:rPr>
              <a:t>傳統做法把儀器指令寫死在程式碼，每次改動都需修改程式、測試、重新部署</a:t>
            </a:r>
          </a:p>
          <a:p>
            <a:r>
              <a:rPr lang="en-US" altLang="zh-TW" sz="1800" b="1" dirty="0">
                <a:solidFill>
                  <a:srgbClr val="333333"/>
                </a:solidFill>
              </a:rPr>
              <a:t>UATE </a:t>
            </a:r>
            <a:r>
              <a:rPr lang="zh-TW" altLang="en-US" sz="1800" b="1" dirty="0">
                <a:solidFill>
                  <a:srgbClr val="333333"/>
                </a:solidFill>
              </a:rPr>
              <a:t>的目標：換儀器或改測試流程，只改設定檔，不碰程式碼。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E16D8F-0845-C415-D3F2-CFD8C7C61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501E197E-A981-65CB-FB62-5FC46862C2F5}"/>
              </a:ext>
            </a:extLst>
          </p:cNvPr>
          <p:cNvGraphicFramePr>
            <a:graphicFrameLocks noGrp="1"/>
          </p:cNvGraphicFramePr>
          <p:nvPr/>
        </p:nvGraphicFramePr>
        <p:xfrm>
          <a:off x="990768" y="4010025"/>
          <a:ext cx="11064239" cy="193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6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情境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需要做什麼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新增一台從未用過的儀器</a:t>
                      </a:r>
                      <a:endParaRPr sz="1400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實作</a:t>
                      </a:r>
                      <a:r>
                        <a:rPr sz="1400" dirty="0">
                          <a:solidFill>
                            <a:srgbClr val="333333"/>
                          </a:solidFill>
                        </a:rPr>
                        <a:t> SCPI Command Set + Equipment </a:t>
                      </a:r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Driver，devices.json</a:t>
                      </a:r>
                      <a:r>
                        <a:rPr sz="140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加一筆</a:t>
                      </a:r>
                      <a:endParaRPr sz="1400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換掉同功能不同型號的儀器</a:t>
                      </a:r>
                      <a:endParaRPr sz="1400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實作新型號 SCPI Command Set，devices.json 改 scpi_class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修改測試步驟或順序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只改</a:t>
                      </a:r>
                      <a:r>
                        <a:rPr sz="140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test_flow.json</a:t>
                      </a:r>
                      <a:endParaRPr sz="1400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新增 Pass/Fail 限值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只改對應 step 的 params.limits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修改</a:t>
                      </a:r>
                      <a:r>
                        <a:rPr sz="1400" dirty="0">
                          <a:solidFill>
                            <a:srgbClr val="333333"/>
                          </a:solidFill>
                        </a:rPr>
                        <a:t> DUT </a:t>
                      </a:r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接線拓樸</a:t>
                      </a:r>
                      <a:endParaRPr sz="1400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只改</a:t>
                      </a:r>
                      <a:r>
                        <a:rPr sz="1400" dirty="0">
                          <a:solidFill>
                            <a:srgbClr val="333333"/>
                          </a:solidFill>
                        </a:rPr>
                        <a:t> </a:t>
                      </a:r>
                      <a:r>
                        <a:rPr sz="1400" dirty="0" err="1">
                          <a:solidFill>
                            <a:srgbClr val="333333"/>
                          </a:solidFill>
                        </a:rPr>
                        <a:t>test_profile.json</a:t>
                      </a:r>
                      <a:endParaRPr sz="1400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855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BF3E8-4B44-2EB5-7D29-CEDC547D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zh-TW" altLang="en-US" dirty="0"/>
              <a:t>架構總覽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1332E8-497A-2439-111B-EC152A3611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A462D-ED9B-6750-57AE-CC1185AF1264}"/>
              </a:ext>
            </a:extLst>
          </p:cNvPr>
          <p:cNvSpPr txBox="1"/>
          <p:nvPr/>
        </p:nvSpPr>
        <p:spPr>
          <a:xfrm>
            <a:off x="727671" y="1677986"/>
            <a:ext cx="4945722" cy="3754874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┌──────────────────────────────────────────────────────────────┐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                   APPLICATION LAYER                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ApplicationManager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LogManager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SessionManager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   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OutputManager（ReportManager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+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SfisManager）UIManager</a:t>
            </a:r>
            <a:r>
              <a:rPr sz="850">
                <a:solidFill>
                  <a:srgbClr val="333333"/>
                </a:solidFill>
                <a:latin typeface="Courier New"/>
              </a:rPr>
              <a:t>       </a:t>
            </a:r>
            <a:r>
              <a:rPr lang="en-US" sz="850">
                <a:solidFill>
                  <a:srgbClr val="333333"/>
                </a:solidFill>
                <a:latin typeface="Courier New"/>
              </a:rPr>
              <a:t> </a:t>
            </a:r>
            <a:r>
              <a:rPr sz="850">
                <a:solidFill>
                  <a:srgbClr val="333333"/>
                </a:solidFill>
                <a:latin typeface="Courier New"/>
              </a:rPr>
              <a:t>│</a:t>
            </a:r>
            <a:endParaRPr sz="85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└────────────────────────────┬─────────────────────────────────┘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                     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┌────────────────────────────▼─────────────────────────────────┐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                 ORCHESTRATION LAYER                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DriverRegistry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    —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動態載入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Driver，管理連線生命週期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TestFlowManager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   — 讀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test_flow.json，依序執行測試步驟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TestProfileManager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— 讀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test_profile.json，管理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DUT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接線拓樸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└────────────────────────────┬─────────────────────────────────┘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                             │  execute(action, params)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                             │  ←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UdpMessage</a:t>
            </a:r>
            <a:endParaRPr sz="85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┌────────────────────────────▼─────────────────────────────────┐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                    DRIVER LAYER                    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Equipment Driver       →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高階動作邏輯（output_on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/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init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…） </a:t>
            </a:r>
            <a:r>
              <a:rPr lang="en-US" sz="850" dirty="0">
                <a:solidFill>
                  <a:srgbClr val="333333"/>
                </a:solidFill>
                <a:latin typeface="Courier New"/>
              </a:rPr>
              <a:t>  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  └─ SCPI Command Set  →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儀器專屬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SCPI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指令集（換儀器換這層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） </a:t>
            </a:r>
            <a:r>
              <a:rPr lang="en-US" sz="850" dirty="0">
                <a:solidFill>
                  <a:srgbClr val="333333"/>
                </a:solidFill>
                <a:latin typeface="Courier New"/>
              </a:rPr>
              <a:t>   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       └─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ScpiDriver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→ write /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query（Instrument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Driver） </a:t>
            </a:r>
            <a:r>
              <a:rPr lang="en-US" sz="85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            └─ Transport →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連線管理（retry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支援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）            </a:t>
            </a:r>
            <a:r>
              <a:rPr lang="en-US" sz="850" dirty="0">
                <a:solidFill>
                  <a:srgbClr val="333333"/>
                </a:solidFill>
                <a:latin typeface="Courier New"/>
              </a:rPr>
              <a:t>  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└────────────────────────────┬─────────────────────────────────┘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                     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┌────────────────────────────▼─────────────────────────────────┐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             HARDWARE COMMUNICATION LAYER           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│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TcpTransport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GpibTransport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   (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SerialTransport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…)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└──────────────────────────────────────────────────────────────┘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                             │</a:t>
            </a:r>
          </a:p>
          <a:p>
            <a:pPr>
              <a:spcBef>
                <a:spcPts val="0"/>
              </a:spcBef>
            </a:pPr>
            <a:r>
              <a:rPr sz="850" dirty="0">
                <a:solidFill>
                  <a:srgbClr val="333333"/>
                </a:solidFill>
                <a:latin typeface="Courier New"/>
              </a:rPr>
              <a:t>                    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實體儀器</a:t>
            </a:r>
            <a:r>
              <a:rPr sz="850" dirty="0">
                <a:solidFill>
                  <a:srgbClr val="333333"/>
                </a:solidFill>
                <a:latin typeface="Courier New"/>
              </a:rPr>
              <a:t> / </a:t>
            </a:r>
            <a:r>
              <a:rPr sz="850" dirty="0" err="1">
                <a:solidFill>
                  <a:srgbClr val="333333"/>
                </a:solidFill>
                <a:latin typeface="Courier New"/>
              </a:rPr>
              <a:t>設備</a:t>
            </a:r>
            <a:endParaRPr sz="850" dirty="0">
              <a:solidFill>
                <a:srgbClr val="333333"/>
              </a:solidFill>
              <a:latin typeface="Courier New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A69BC861-0D77-7DD9-2E8A-23F89286C338}"/>
              </a:ext>
            </a:extLst>
          </p:cNvPr>
          <p:cNvGraphicFramePr>
            <a:graphicFrameLocks noGrp="1"/>
          </p:cNvGraphicFramePr>
          <p:nvPr/>
        </p:nvGraphicFramePr>
        <p:xfrm>
          <a:off x="5914460" y="1677986"/>
          <a:ext cx="810299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0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5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Manager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</a:rPr>
                        <a:t>層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對應設定檔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職責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ApplicationManager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platform_config.json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啟動/停止，協調各 Manager 生命週期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LogManager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跨層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platform_config.json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統一 log 介面，寫檔 + console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SessionManager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管理 DUT SN、開始時間、累積 StepResult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OutputManager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platform_config.json（report/sfis）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產報告（JSON/CSV）+ 送 Mars/SFIS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UIManager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CLI 輸出或 tkinter Dashboard，即時更新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CommunicationManager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Driver/HW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devices.json（transport 區塊）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333333"/>
                          </a:solidFill>
                        </a:rPr>
                        <a:t>建立並管理所有實體</a:t>
                      </a: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 Transport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DriverRegistry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devices.json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動態 import Driver，connect/disconnect 生命週期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TestFlowManager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test_flow.json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依序執行 steps，剝離 limits，評估 Pass/Fail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TestProfileManager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test_profile.json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333333"/>
                          </a:solidFill>
                        </a:rPr>
                        <a:t>載入</a:t>
                      </a: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 DUT 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</a:rPr>
                        <a:t>接線拓樸，提供</a:t>
                      </a: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 port 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</a:rPr>
                        <a:t>注入</a:t>
                      </a:r>
                      <a:endParaRPr sz="1000" dirty="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716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DDF34F-CAB7-37E9-ADDA-619EB67C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zh-TW" altLang="en-US" dirty="0"/>
              <a:t>目錄結構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0DBC48-7500-FB03-86E8-A113F14DDC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696AC001-EBD8-2EA0-1EB9-E2AFA775E3B6}"/>
              </a:ext>
            </a:extLst>
          </p:cNvPr>
          <p:cNvSpPr txBox="1"/>
          <p:nvPr/>
        </p:nvSpPr>
        <p:spPr>
          <a:xfrm>
            <a:off x="1503234" y="1378535"/>
            <a:ext cx="5731056" cy="5262979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sz="1200" dirty="0" err="1">
                <a:solidFill>
                  <a:srgbClr val="333333"/>
                </a:solidFill>
                <a:latin typeface="Courier New"/>
              </a:rPr>
              <a:t>source_code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/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platform_config.json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平台主設定（啟動路徑、報告、SFIS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config/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devices.json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裝置清單與連線參數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flows/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test_flow.json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測試流程步驟定義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profiles/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test_profile.json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← DUT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接口連線拓樸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reports/            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測試報告輸出（自動產生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logs/               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執行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log（自動產生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uate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/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transport/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base.py         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ITransport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Protocol（介面規格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tcp_transport.py     ← Ethernet TCP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連線實作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gpib_transport.py    ← GPIB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連線實作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drivers/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base.py         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EquipmentDriverBase、UdpMessage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scpi_driver.py  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ScpiDriver（Instrument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Driver）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scpi/power_supply_scpi.py / iqxel_scpi.py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equipment/power_supply_driver.py / iqxel_driver.py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log_manager.py         ← Logger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初始化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communication_manager.py ← Transport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建立與管理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driver_registry.py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動態載入並管理所有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Driver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test_flow_manager.py   ← 讀 flow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JSON，依序執行步驟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test_profile_manager.py ← 讀 profile JSON，DUT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接線拓樸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session_manager.py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累積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StepResult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SessionResult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output_manager.py 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OutputManager（Facade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├─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ReportManager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  →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寫本機報告（JSON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/ CSV）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└─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SfisManager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    → TCP 送 Mars / SFIS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application_manager.py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頂層協調者，持有所有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Manager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main.py                  ←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程式入口（CLI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/ GUI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模式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32847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C4DF44-E585-6130-C3C9-295B2A3A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7189"/>
            <a:ext cx="12716124" cy="793569"/>
          </a:xfrm>
        </p:spPr>
        <p:txBody>
          <a:bodyPr/>
          <a:lstStyle/>
          <a:p>
            <a:r>
              <a:rPr lang="zh-TW" altLang="en-US" dirty="0"/>
              <a:t>設定檔說明 </a:t>
            </a:r>
            <a:r>
              <a:rPr lang="en-US" altLang="zh-TW" dirty="0"/>
              <a:t>- </a:t>
            </a:r>
            <a:r>
              <a:rPr lang="en-US" altLang="zh-TW" dirty="0" err="1"/>
              <a:t>platform_config.json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DD357F-A168-1DC5-B50D-112D8751C3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6E8737E2-08B8-075A-C042-F05810C4DA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27076" y="1708151"/>
            <a:ext cx="7291510" cy="2693255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{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"</a:t>
            </a:r>
            <a:r>
              <a:rPr lang="en-US" sz="1200" dirty="0" err="1">
                <a:solidFill>
                  <a:srgbClr val="333333"/>
                </a:solidFill>
                <a:latin typeface="Courier New"/>
              </a:rPr>
              <a:t>devices_config</a:t>
            </a:r>
            <a:r>
              <a:rPr lang="en-US" sz="1200" dirty="0">
                <a:solidFill>
                  <a:srgbClr val="333333"/>
                </a:solidFill>
                <a:latin typeface="Courier New"/>
              </a:rPr>
              <a:t>": "config/</a:t>
            </a:r>
            <a:r>
              <a:rPr lang="en-US" sz="1200" dirty="0" err="1">
                <a:solidFill>
                  <a:srgbClr val="333333"/>
                </a:solidFill>
                <a:latin typeface="Courier New"/>
              </a:rPr>
              <a:t>devices.json</a:t>
            </a:r>
            <a:r>
              <a:rPr lang="en-US" sz="1200" dirty="0">
                <a:solidFill>
                  <a:srgbClr val="333333"/>
                </a:solidFill>
                <a:latin typeface="Courier New"/>
              </a:rPr>
              <a:t>",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"</a:t>
            </a:r>
            <a:r>
              <a:rPr lang="en-US" sz="1200" dirty="0" err="1">
                <a:solidFill>
                  <a:srgbClr val="333333"/>
                </a:solidFill>
                <a:latin typeface="Courier New"/>
              </a:rPr>
              <a:t>active_flow</a:t>
            </a:r>
            <a:r>
              <a:rPr lang="en-US" sz="1200" dirty="0">
                <a:solidFill>
                  <a:srgbClr val="333333"/>
                </a:solidFill>
                <a:latin typeface="Courier New"/>
              </a:rPr>
              <a:t>": "</a:t>
            </a:r>
            <a:r>
              <a:rPr lang="en-US" sz="1200" dirty="0" err="1">
                <a:solidFill>
                  <a:srgbClr val="333333"/>
                </a:solidFill>
                <a:latin typeface="Courier New"/>
              </a:rPr>
              <a:t>test_flow</a:t>
            </a:r>
            <a:r>
              <a:rPr lang="en-US" sz="1200" dirty="0">
                <a:solidFill>
                  <a:srgbClr val="333333"/>
                </a:solidFill>
                <a:latin typeface="Courier New"/>
              </a:rPr>
              <a:t>",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"</a:t>
            </a:r>
            <a:r>
              <a:rPr lang="en-US" sz="1200" dirty="0" err="1">
                <a:solidFill>
                  <a:srgbClr val="333333"/>
                </a:solidFill>
                <a:latin typeface="Courier New"/>
              </a:rPr>
              <a:t>active_profile</a:t>
            </a:r>
            <a:r>
              <a:rPr lang="en-US" sz="1200" dirty="0">
                <a:solidFill>
                  <a:srgbClr val="333333"/>
                </a:solidFill>
                <a:latin typeface="Courier New"/>
              </a:rPr>
              <a:t>": "AX200_WiFi6_RF",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"report": {  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 "</a:t>
            </a:r>
            <a:r>
              <a:rPr lang="en-US" sz="1200" dirty="0" err="1">
                <a:solidFill>
                  <a:srgbClr val="333333"/>
                </a:solidFill>
                <a:latin typeface="Courier New"/>
              </a:rPr>
              <a:t>output_dir</a:t>
            </a:r>
            <a:r>
              <a:rPr lang="en-US" sz="1200" dirty="0">
                <a:solidFill>
                  <a:srgbClr val="333333"/>
                </a:solidFill>
                <a:latin typeface="Courier New"/>
              </a:rPr>
              <a:t>": "reports",  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 "format": "</a:t>
            </a:r>
            <a:r>
              <a:rPr lang="en-US" sz="1200" dirty="0" err="1">
                <a:solidFill>
                  <a:srgbClr val="333333"/>
                </a:solidFill>
                <a:latin typeface="Courier New"/>
              </a:rPr>
              <a:t>json</a:t>
            </a:r>
            <a:r>
              <a:rPr lang="en-US" sz="1200" dirty="0">
                <a:solidFill>
                  <a:srgbClr val="333333"/>
                </a:solidFill>
                <a:latin typeface="Courier New"/>
              </a:rPr>
              <a:t>"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},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"</a:t>
            </a:r>
            <a:r>
              <a:rPr lang="en-US" sz="1200" dirty="0" err="1">
                <a:solidFill>
                  <a:srgbClr val="333333"/>
                </a:solidFill>
                <a:latin typeface="Courier New"/>
              </a:rPr>
              <a:t>sfis</a:t>
            </a:r>
            <a:r>
              <a:rPr lang="en-US" sz="1200" dirty="0">
                <a:solidFill>
                  <a:srgbClr val="333333"/>
                </a:solidFill>
                <a:latin typeface="Courier New"/>
              </a:rPr>
              <a:t>": {  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 "enabled": false,  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 "host": "",  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 "port": 0  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}</a:t>
            </a: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}</a:t>
            </a:r>
            <a:endParaRPr sz="1200" dirty="0">
              <a:solidFill>
                <a:srgbClr val="333333"/>
              </a:solidFill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4212363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52A9A8-E38F-6C97-01C6-8530AA514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7189"/>
            <a:ext cx="12716124" cy="793569"/>
          </a:xfrm>
        </p:spPr>
        <p:txBody>
          <a:bodyPr/>
          <a:lstStyle/>
          <a:p>
            <a:r>
              <a:rPr lang="zh-TW" altLang="en-US" dirty="0"/>
              <a:t>設定檔說明 </a:t>
            </a:r>
            <a:r>
              <a:rPr lang="en-US" altLang="zh-TW" dirty="0"/>
              <a:t>- </a:t>
            </a:r>
            <a:r>
              <a:rPr lang="en-US" altLang="zh-TW" dirty="0" err="1"/>
              <a:t>devices.json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AA2D77-A3AC-7374-73AC-C9D36C2369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B5">
            <a:extLst>
              <a:ext uri="{FF2B5EF4-FFF2-40B4-BE49-F238E27FC236}">
                <a16:creationId xmlns:a16="http://schemas.microsoft.com/office/drawing/2014/main" id="{37EEAE1E-8ADE-A43E-F085-FB4B9D89454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11955" y="1360758"/>
            <a:ext cx="12024283" cy="2877921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"devices": [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{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device_id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"PSU-01",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display_name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電源供應器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"enabled": true,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driver_class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uate.drivers.equipment.power_supply_driver.PowerSupplyDriver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scpi_class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  "uate.drivers.scpi.power_supply_scpi.E36xxScpi",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expected_idn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"Keysight Technologies,E3646A",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"ports": ["CH1", "CH2"],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"transport": { "type":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GpibTransport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",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gpib_address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5, "timeout": 5.0 },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"config": {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channel_mode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nsel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 }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]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  <p:sp>
        <p:nvSpPr>
          <p:cNvPr id="6" name="TB7">
            <a:extLst>
              <a:ext uri="{FF2B5EF4-FFF2-40B4-BE49-F238E27FC236}">
                <a16:creationId xmlns:a16="http://schemas.microsoft.com/office/drawing/2014/main" id="{6D66DD37-4AD1-57CE-AD6E-C143010757B8}"/>
              </a:ext>
            </a:extLst>
          </p:cNvPr>
          <p:cNvSpPr txBox="1"/>
          <p:nvPr/>
        </p:nvSpPr>
        <p:spPr>
          <a:xfrm>
            <a:off x="811956" y="4632273"/>
            <a:ext cx="12024282" cy="1754326"/>
          </a:xfrm>
          <a:prstGeom prst="rect">
            <a:avLst/>
          </a:prstGeom>
          <a:solidFill>
            <a:srgbClr val="E8F4F3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dirty="0" err="1">
                <a:solidFill>
                  <a:srgbClr val="333333"/>
                </a:solidFill>
                <a:latin typeface="Courier New"/>
              </a:rPr>
              <a:t>device_id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   →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唯一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key；test_flow.json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的 "driver"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欄位引用此值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 err="1">
                <a:solidFill>
                  <a:srgbClr val="333333"/>
                </a:solidFill>
                <a:latin typeface="Courier New"/>
              </a:rPr>
              <a:t>display_name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→ GUI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儀器選擇面板顯示名稱（End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user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看到的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enabled        → false =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CommunicationManager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/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DriverRegistry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跳過，不建立連線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 err="1">
                <a:solidFill>
                  <a:srgbClr val="333333"/>
                </a:solidFill>
                <a:latin typeface="Courier New"/>
              </a:rPr>
              <a:t>driver_class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→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importlib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動態載入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Equipment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Driver（不寫死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import）</a:t>
            </a:r>
          </a:p>
          <a:p>
            <a:pPr>
              <a:spcBef>
                <a:spcPts val="0"/>
              </a:spcBef>
            </a:pPr>
            <a:r>
              <a:rPr sz="1200" dirty="0" err="1">
                <a:solidFill>
                  <a:srgbClr val="333333"/>
                </a:solidFill>
                <a:latin typeface="Courier New"/>
              </a:rPr>
              <a:t>scpi_class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  →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儀器型號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SCPI Command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Set；換型號只改這行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 err="1">
                <a:solidFill>
                  <a:srgbClr val="333333"/>
                </a:solidFill>
                <a:latin typeface="Courier New"/>
              </a:rPr>
              <a:t>expected_idn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  → *IDN?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回應比對（substring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）；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不符只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WARNING，不阻斷流程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ports          →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validate_port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()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合法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port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清單；空陣列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= 無 port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概念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 err="1">
                <a:solidFill>
                  <a:srgbClr val="333333"/>
                </a:solidFill>
                <a:latin typeface="Courier New"/>
              </a:rPr>
              <a:t>transport.type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CommunicationManager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dict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lookup；TcpTransport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/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GpibTransport</a:t>
            </a:r>
            <a:endParaRPr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config         →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傳給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ScpiCommandSet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.__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init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__()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的儀器專屬參數（如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channel_mode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91654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0016E4-0905-7549-40E9-93D6C091D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7189"/>
            <a:ext cx="12716124" cy="793569"/>
          </a:xfrm>
        </p:spPr>
        <p:txBody>
          <a:bodyPr/>
          <a:lstStyle/>
          <a:p>
            <a:r>
              <a:rPr lang="zh-TW" altLang="en-US" dirty="0"/>
              <a:t>設定檔說明 </a:t>
            </a:r>
            <a:r>
              <a:rPr lang="en-US" altLang="zh-TW" dirty="0"/>
              <a:t>- </a:t>
            </a:r>
            <a:r>
              <a:rPr lang="en-US" altLang="zh-TW" dirty="0" err="1"/>
              <a:t>test_profile.json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2848C6-C594-12E8-18EA-582EA89FE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B5">
            <a:extLst>
              <a:ext uri="{FF2B5EF4-FFF2-40B4-BE49-F238E27FC236}">
                <a16:creationId xmlns:a16="http://schemas.microsoft.com/office/drawing/2014/main" id="{3600CEBB-FFBF-73E3-87CD-0C293E0F442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27671" y="1385016"/>
            <a:ext cx="8195861" cy="2323923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"profiles": {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"AX200_WiFi6_RF": {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"description": "AX200 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WiFi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 6 RF spec — 2.4GHz CH6 20MHz AX MCS11",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dut_connections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{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  "ANT1":  { "instrument": "IQXEL-01", "port": "1A", "role":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vsa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 },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  "ANT2":  { "instrument": "IQXEL-01", "port": "1B", "role":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vsg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 },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  "POWER": { "instrument": "PSU-01",   "port": "CH1", "role": "power" }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}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}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}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5255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A37753-48C5-5A66-ED0C-0A23729D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7189"/>
            <a:ext cx="12716124" cy="793569"/>
          </a:xfrm>
        </p:spPr>
        <p:txBody>
          <a:bodyPr/>
          <a:lstStyle/>
          <a:p>
            <a:r>
              <a:rPr lang="zh-TW" altLang="en-US" dirty="0"/>
              <a:t>設定檔說明 </a:t>
            </a:r>
            <a:r>
              <a:rPr lang="en-US" altLang="zh-TW" dirty="0"/>
              <a:t>- </a:t>
            </a:r>
            <a:r>
              <a:rPr lang="en-US" altLang="zh-TW" dirty="0" err="1"/>
              <a:t>test_flow.json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69BFF8-E8B5-0020-270C-9BC0004B7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TB5">
            <a:extLst>
              <a:ext uri="{FF2B5EF4-FFF2-40B4-BE49-F238E27FC236}">
                <a16:creationId xmlns:a16="http://schemas.microsoft.com/office/drawing/2014/main" id="{CD9540F4-E611-820D-D105-EAD93E31ADEB}"/>
              </a:ext>
            </a:extLst>
          </p:cNvPr>
          <p:cNvSpPr txBox="1"/>
          <p:nvPr/>
        </p:nvSpPr>
        <p:spPr>
          <a:xfrm>
            <a:off x="727671" y="1560000"/>
            <a:ext cx="11064240" cy="4524315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{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flow_version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"2.0", 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flow_name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basic_psu_iqxel_test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on_step_failure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"abort",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"steps": [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{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"step_id":"1",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"driver":"PSU-01",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"action":"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output_on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"params": {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voltage_v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3.8,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current_limit_a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2.0 },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on_step_failure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"abort"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},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{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"step_id":"8",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"driver":"IQXEL-01",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"action":"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fetch_tx_power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"params": {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dut_port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"ANT1",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  "limits": {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tx_power_dbm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{"min":15.0,"max":20.0,"unit":"dBm"} }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},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    "</a:t>
            </a:r>
            <a:r>
              <a:rPr sz="1200" dirty="0" err="1">
                <a:solidFill>
                  <a:srgbClr val="333333"/>
                </a:solidFill>
                <a:latin typeface="Courier New"/>
              </a:rPr>
              <a:t>on_step_failure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": "continue" </a:t>
            </a:r>
            <a:endParaRPr lang="en-US" sz="12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3333"/>
                </a:solidFill>
                <a:latin typeface="Courier New"/>
              </a:rPr>
              <a:t>    </a:t>
            </a:r>
            <a:r>
              <a:rPr sz="1200" dirty="0">
                <a:solidFill>
                  <a:srgbClr val="333333"/>
                </a:solidFill>
                <a:latin typeface="Courier New"/>
              </a:rPr>
              <a:t>}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  ]</a:t>
            </a:r>
          </a:p>
          <a:p>
            <a:pPr>
              <a:spcBef>
                <a:spcPts val="0"/>
              </a:spcBef>
            </a:pPr>
            <a:r>
              <a:rPr sz="1200" dirty="0">
                <a:solidFill>
                  <a:srgbClr val="333333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6287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7729C2-EDA5-DB9F-A3D3-81F5157B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 err="1"/>
              <a:t>UdpMessage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53D22D-3512-E7CC-4E50-7ECC9FA4AC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B5">
            <a:extLst>
              <a:ext uri="{FF2B5EF4-FFF2-40B4-BE49-F238E27FC236}">
                <a16:creationId xmlns:a16="http://schemas.microsoft.com/office/drawing/2014/main" id="{EA938C7A-7C8B-032D-98DC-84CAC02C701F}"/>
              </a:ext>
            </a:extLst>
          </p:cNvPr>
          <p:cNvSpPr txBox="1"/>
          <p:nvPr/>
        </p:nvSpPr>
        <p:spPr>
          <a:xfrm>
            <a:off x="548640" y="1362649"/>
            <a:ext cx="11064240" cy="1277273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 dirty="0">
                <a:solidFill>
                  <a:srgbClr val="333333"/>
                </a:solidFill>
                <a:latin typeface="Courier New"/>
              </a:rPr>
              <a:t>@dataclass</a:t>
            </a:r>
          </a:p>
          <a:p>
            <a:pPr>
              <a:spcBef>
                <a:spcPts val="0"/>
              </a:spcBef>
            </a:pPr>
            <a:r>
              <a:rPr sz="1100" dirty="0">
                <a:solidFill>
                  <a:srgbClr val="333333"/>
                </a:solidFill>
                <a:latin typeface="Courier New"/>
              </a:rPr>
              <a:t>class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UdpMessage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:</a:t>
            </a:r>
          </a:p>
          <a:p>
            <a:pPr>
              <a:spcBef>
                <a:spcPts val="0"/>
              </a:spcBef>
            </a:pPr>
            <a:r>
              <a:rPr sz="1100" dirty="0">
                <a:solidFill>
                  <a:srgbClr val="333333"/>
                </a:solidFill>
                <a:latin typeface="Courier New"/>
              </a:rPr>
              <a:t>   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device_id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: str            #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對應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devices.json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 的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device_id，例如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 "PSU-01"</a:t>
            </a:r>
          </a:p>
          <a:p>
            <a:pPr>
              <a:spcBef>
                <a:spcPts val="0"/>
              </a:spcBef>
            </a:pPr>
            <a:r>
              <a:rPr sz="1100" dirty="0">
                <a:solidFill>
                  <a:srgbClr val="333333"/>
                </a:solidFill>
                <a:latin typeface="Courier New"/>
              </a:rPr>
              <a:t>    action:    str            #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執行的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 action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名稱，例如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 "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output_on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"</a:t>
            </a:r>
          </a:p>
          <a:p>
            <a:pPr>
              <a:spcBef>
                <a:spcPts val="0"/>
              </a:spcBef>
            </a:pPr>
            <a:r>
              <a:rPr sz="1100" dirty="0">
                <a:solidFill>
                  <a:srgbClr val="333333"/>
                </a:solidFill>
                <a:latin typeface="Courier New"/>
              </a:rPr>
              <a:t>    status:    str            # "ok" | "error"</a:t>
            </a:r>
          </a:p>
          <a:p>
            <a:pPr>
              <a:spcBef>
                <a:spcPts val="0"/>
              </a:spcBef>
            </a:pPr>
            <a:r>
              <a:rPr sz="1100" dirty="0">
                <a:solidFill>
                  <a:srgbClr val="333333"/>
                </a:solidFill>
                <a:latin typeface="Courier New"/>
              </a:rPr>
              <a:t>    payload:  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dict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[str, Any] #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量測結果（status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="ok"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時填；預設空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dict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）</a:t>
            </a:r>
          </a:p>
          <a:p>
            <a:pPr>
              <a:spcBef>
                <a:spcPts val="0"/>
              </a:spcBef>
            </a:pPr>
            <a:r>
              <a:rPr sz="1100" dirty="0">
                <a:solidFill>
                  <a:srgbClr val="333333"/>
                </a:solidFill>
                <a:latin typeface="Courier New"/>
              </a:rPr>
              <a:t>    error:     str            #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錯誤描述（status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="error" </a:t>
            </a:r>
            <a:r>
              <a:rPr sz="1100" dirty="0" err="1">
                <a:solidFill>
                  <a:srgbClr val="333333"/>
                </a:solidFill>
                <a:latin typeface="Courier New"/>
              </a:rPr>
              <a:t>時填；預設</a:t>
            </a:r>
            <a:r>
              <a:rPr sz="1100" dirty="0">
                <a:solidFill>
                  <a:srgbClr val="333333"/>
                </a:solidFill>
                <a:latin typeface="Courier New"/>
              </a:rPr>
              <a:t> ""）</a:t>
            </a:r>
          </a:p>
        </p:txBody>
      </p:sp>
      <p:sp>
        <p:nvSpPr>
          <p:cNvPr id="6" name="TB6">
            <a:extLst>
              <a:ext uri="{FF2B5EF4-FFF2-40B4-BE49-F238E27FC236}">
                <a16:creationId xmlns:a16="http://schemas.microsoft.com/office/drawing/2014/main" id="{1BA67ED1-E392-38FE-D7B6-DBF9E0B9F06E}"/>
              </a:ext>
            </a:extLst>
          </p:cNvPr>
          <p:cNvSpPr txBox="1"/>
          <p:nvPr/>
        </p:nvSpPr>
        <p:spPr>
          <a:xfrm>
            <a:off x="548640" y="2730000"/>
            <a:ext cx="11064240" cy="3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 dirty="0" err="1">
                <a:solidFill>
                  <a:srgbClr val="048A81"/>
                </a:solidFill>
              </a:rPr>
              <a:t>欄位使用規則</a:t>
            </a:r>
            <a:r>
              <a:rPr sz="1400" b="1" dirty="0">
                <a:solidFill>
                  <a:srgbClr val="048A81"/>
                </a:solidFill>
              </a:rPr>
              <a:t>：</a:t>
            </a:r>
          </a:p>
        </p:txBody>
      </p:sp>
      <p:sp>
        <p:nvSpPr>
          <p:cNvPr id="7" name="TB7">
            <a:extLst>
              <a:ext uri="{FF2B5EF4-FFF2-40B4-BE49-F238E27FC236}">
                <a16:creationId xmlns:a16="http://schemas.microsoft.com/office/drawing/2014/main" id="{1B35692D-C4F9-22BB-629F-899A775B554B}"/>
              </a:ext>
            </a:extLst>
          </p:cNvPr>
          <p:cNvSpPr txBox="1"/>
          <p:nvPr/>
        </p:nvSpPr>
        <p:spPr>
          <a:xfrm>
            <a:off x="548640" y="3060000"/>
            <a:ext cx="11064240" cy="1631216"/>
          </a:xfrm>
          <a:prstGeom prst="rect">
            <a:avLst/>
          </a:prstGeom>
          <a:solidFill>
            <a:srgbClr val="E8F4F3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┌──────────┬──────────────────────────────────────┬────────────────────────────────────┐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│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欄位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 </a:t>
            </a:r>
            <a:r>
              <a:rPr lang="en-US" sz="10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│ status="ok" 時                       │ status="error" 時                  │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├──────────┼──────────────────────────────────────┼────────────────────────────────────┤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│ payload  │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填量測結果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dict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  </a:t>
            </a:r>
            <a:r>
              <a:rPr lang="en-US" sz="10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                 │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可為空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dict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{}                      │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│          │ key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必須與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limits key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一致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           │                                    │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│          │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才能觸發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Pass/Fail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評估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              │                                    │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├──────────┼──────────────────────────────────────┼────────────────────────────────────┤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│ error    │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空字串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""                             │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填人可讀的錯誤描述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                 │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│          │                                      │ (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逾時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/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無回應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/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未知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action/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例外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)       │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└──────────┴──────────────────────────────────────┴────────────────────────────────────┘</a:t>
            </a:r>
          </a:p>
        </p:txBody>
      </p:sp>
      <p:sp>
        <p:nvSpPr>
          <p:cNvPr id="8" name="TB8">
            <a:extLst>
              <a:ext uri="{FF2B5EF4-FFF2-40B4-BE49-F238E27FC236}">
                <a16:creationId xmlns:a16="http://schemas.microsoft.com/office/drawing/2014/main" id="{3FCE61E6-11C1-B5EE-DC45-03CBC4282198}"/>
              </a:ext>
            </a:extLst>
          </p:cNvPr>
          <p:cNvSpPr txBox="1"/>
          <p:nvPr/>
        </p:nvSpPr>
        <p:spPr>
          <a:xfrm>
            <a:off x="548640" y="4830000"/>
            <a:ext cx="11064240" cy="3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 dirty="0">
                <a:solidFill>
                  <a:srgbClr val="048A81"/>
                </a:solidFill>
              </a:rPr>
              <a:t>payload key </a:t>
            </a:r>
            <a:r>
              <a:rPr sz="1400" b="1" dirty="0" err="1">
                <a:solidFill>
                  <a:srgbClr val="048A81"/>
                </a:solidFill>
              </a:rPr>
              <a:t>必須與</a:t>
            </a:r>
            <a:r>
              <a:rPr sz="1400" b="1" dirty="0">
                <a:solidFill>
                  <a:srgbClr val="048A81"/>
                </a:solidFill>
              </a:rPr>
              <a:t> limits key </a:t>
            </a:r>
            <a:r>
              <a:rPr sz="1400" b="1" dirty="0" err="1">
                <a:solidFill>
                  <a:srgbClr val="048A81"/>
                </a:solidFill>
              </a:rPr>
              <a:t>一致</a:t>
            </a:r>
            <a:r>
              <a:rPr sz="1400" b="1" dirty="0">
                <a:solidFill>
                  <a:srgbClr val="048A81"/>
                </a:solidFill>
              </a:rPr>
              <a:t>：</a:t>
            </a:r>
          </a:p>
        </p:txBody>
      </p:sp>
      <p:sp>
        <p:nvSpPr>
          <p:cNvPr id="9" name="TB9">
            <a:extLst>
              <a:ext uri="{FF2B5EF4-FFF2-40B4-BE49-F238E27FC236}">
                <a16:creationId xmlns:a16="http://schemas.microsoft.com/office/drawing/2014/main" id="{D97021E7-BF9E-FF48-3C0C-0EEACBF3A57C}"/>
              </a:ext>
            </a:extLst>
          </p:cNvPr>
          <p:cNvSpPr txBox="1"/>
          <p:nvPr/>
        </p:nvSpPr>
        <p:spPr>
          <a:xfrm>
            <a:off x="548640" y="5265253"/>
            <a:ext cx="11064240" cy="1477328"/>
          </a:xfrm>
          <a:prstGeom prst="rect">
            <a:avLst/>
          </a:prstGeom>
          <a:solidFill>
            <a:srgbClr val="FFF3CD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# Driver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回傳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                              #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test_flow.json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limits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payload = {"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tx_power_dbm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": 17.3}            "limits": {"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tx_power_dbm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": {"min":15.0, "max":20.0}}</a:t>
            </a:r>
          </a:p>
          <a:p>
            <a:pPr>
              <a:spcBef>
                <a:spcPts val="0"/>
              </a:spcBef>
            </a:pPr>
            <a:endParaRPr sz="1000" dirty="0">
              <a:solidFill>
                <a:srgbClr val="333333"/>
              </a:solidFill>
              <a:latin typeface="Courier New"/>
            </a:endParaRP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#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成功範例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                                 #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失敗範例（不應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raise，一律包成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error）</a:t>
            </a:r>
          </a:p>
          <a:p>
            <a:pPr>
              <a:spcBef>
                <a:spcPts val="0"/>
              </a:spcBef>
            </a:pPr>
            <a:r>
              <a:rPr sz="1000" dirty="0" err="1">
                <a:solidFill>
                  <a:srgbClr val="333333"/>
                </a:solidFill>
                <a:latin typeface="Courier New"/>
              </a:rPr>
              <a:t>UdpMessage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(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device_id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="PSU-01",              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UdpMessage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(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device_id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="PSU-01",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           action="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output_on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",                         action="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output_on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",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           status="ok",                               </a:t>
            </a:r>
            <a:r>
              <a:rPr lang="en-US" sz="10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status="error",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           payload={"channel":"CH1",                </a:t>
            </a:r>
            <a:r>
              <a:rPr lang="en-US" sz="1000" dirty="0">
                <a:solidFill>
                  <a:srgbClr val="333333"/>
                </a:solidFill>
                <a:latin typeface="Courier New"/>
              </a:rPr>
              <a:t> 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  error="GPIB timeout after 5s")</a:t>
            </a:r>
          </a:p>
          <a:p>
            <a:pPr>
              <a:spcBef>
                <a:spcPts val="0"/>
              </a:spcBef>
            </a:pPr>
            <a:r>
              <a:rPr sz="1000" dirty="0">
                <a:solidFill>
                  <a:srgbClr val="333333"/>
                </a:solidFill>
                <a:latin typeface="Courier New"/>
              </a:rPr>
              <a:t>                    "</a:t>
            </a:r>
            <a:r>
              <a:rPr sz="1000" dirty="0" err="1">
                <a:solidFill>
                  <a:srgbClr val="333333"/>
                </a:solidFill>
                <a:latin typeface="Courier New"/>
              </a:rPr>
              <a:t>voltage_v</a:t>
            </a:r>
            <a:r>
              <a:rPr sz="1000" dirty="0">
                <a:solidFill>
                  <a:srgbClr val="333333"/>
                </a:solidFill>
                <a:latin typeface="Courier New"/>
              </a:rPr>
              <a:t>": 3.8})</a:t>
            </a:r>
          </a:p>
        </p:txBody>
      </p:sp>
    </p:spTree>
    <p:extLst>
      <p:ext uri="{BB962C8B-B14F-4D97-AF65-F5344CB8AC3E}">
        <p14:creationId xmlns:p14="http://schemas.microsoft.com/office/powerpoint/2010/main" val="1197182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10109</TotalTime>
  <Words>3032</Words>
  <Application>Microsoft Office PowerPoint</Application>
  <PresentationFormat>自訂</PresentationFormat>
  <Paragraphs>401</Paragraphs>
  <Slides>20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20</vt:i4>
      </vt:variant>
    </vt:vector>
  </HeadingPairs>
  <TitlesOfParts>
    <vt:vector size="32" baseType="lpstr">
      <vt:lpstr>Heiti TC Light</vt:lpstr>
      <vt:lpstr>Arial</vt:lpstr>
      <vt:lpstr>Calibri</vt:lpstr>
      <vt:lpstr>Calibri Light</vt:lpstr>
      <vt:lpstr>Courier New</vt:lpstr>
      <vt:lpstr>Wingdings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WK26</vt:lpstr>
      <vt:lpstr>Status report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DUT 測試腳本現況分析</vt:lpstr>
      <vt:lpstr>DUT 測試改善方向（2/2）</vt:lpstr>
      <vt:lpstr>DUT 測試改善方向（1/2）</vt:lpstr>
      <vt:lpstr>平台目標與設計原則</vt:lpstr>
      <vt:lpstr>架構總覽</vt:lpstr>
      <vt:lpstr>目錄結構</vt:lpstr>
      <vt:lpstr>設定檔說明 - platform_config.json</vt:lpstr>
      <vt:lpstr>設定檔說明 - devices.json</vt:lpstr>
      <vt:lpstr>設定檔說明 - test_profile.json</vt:lpstr>
      <vt:lpstr>設定檔說明 - test_flow.json</vt:lpstr>
      <vt:lpstr>UdpMessage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543</cp:revision>
  <dcterms:created xsi:type="dcterms:W3CDTF">2020-05-05T05:12:04Z</dcterms:created>
  <dcterms:modified xsi:type="dcterms:W3CDTF">2026-06-26T02:01:44Z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